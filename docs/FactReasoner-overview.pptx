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7" r:id="rId17"/>
    <p:sldId id="274" r:id="rId18"/>
    <p:sldId id="275" r:id="rId19"/>
    <p:sldId id="276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093"/>
    <p:restoredTop sz="94653"/>
  </p:normalViewPr>
  <p:slideViewPr>
    <p:cSldViewPr snapToGrid="0" snapToObjects="1">
      <p:cViewPr varScale="1">
        <p:scale>
          <a:sx n="212" d="100"/>
          <a:sy n="212" d="100"/>
        </p:scale>
        <p:origin x="768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68680" y="1874519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D6CDF"/>
                </a:solidFill>
                <a:latin typeface="Helvetica Neue"/>
              </a:rPr>
              <a:t>PROBABILISTIC FACTUALITY ASSESSMENT FOR LLMs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267712"/>
            <a:ext cx="8778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200" b="1" i="0">
                <a:solidFill>
                  <a:srgbClr val="1A1F2B"/>
                </a:solidFill>
                <a:latin typeface="Helvetica Neue"/>
              </a:rPr>
              <a:t>FactReasoner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310128"/>
            <a:ext cx="90525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2100" b="0" i="0">
                <a:solidFill>
                  <a:srgbClr val="5B6474"/>
                </a:solidFill>
                <a:latin typeface="Helvetica Neue"/>
              </a:rPr>
              <a:t>Don't ask an LLM whether its answer is true.</a:t>
            </a:r>
          </a:p>
          <a:p>
            <a:pPr algn="l">
              <a:lnSpc>
                <a:spcPct val="126000"/>
              </a:lnSpc>
            </a:pPr>
            <a:r>
              <a:rPr sz="2100" b="0" i="0">
                <a:solidFill>
                  <a:srgbClr val="5B6474"/>
                </a:solidFill>
                <a:latin typeface="Helvetica Neue"/>
              </a:rPr>
              <a:t>Decompose the claims, gather the evidence, and reason over it.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4498848"/>
            <a:ext cx="2788920" cy="1060704"/>
          </a:xfrm>
          <a:prstGeom prst="roundRect">
            <a:avLst>
              <a:gd name="adj" fmla="val 7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69848" y="4645152"/>
            <a:ext cx="24688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D6CDF"/>
                </a:solidFill>
                <a:latin typeface="Helvetica Neue"/>
              </a:rPr>
              <a:t>Calibrated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" y="4937760"/>
            <a:ext cx="24688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5B6474"/>
                </a:solidFill>
                <a:latin typeface="Helvetica Neue"/>
              </a:rPr>
              <a:t>probabilities, not</a:t>
            </a:r>
          </a:p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5B6474"/>
                </a:solidFill>
                <a:latin typeface="Helvetica Neue"/>
              </a:rPr>
              <a:t>binary verdicts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867912" y="4498848"/>
            <a:ext cx="2788920" cy="1060704"/>
          </a:xfrm>
          <a:prstGeom prst="roundRect">
            <a:avLst>
              <a:gd name="adj" fmla="val 7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069080" y="4645152"/>
            <a:ext cx="24688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5B4BC4"/>
                </a:solidFill>
                <a:latin typeface="Helvetica Neue"/>
              </a:rPr>
              <a:t>Joint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69080" y="4937760"/>
            <a:ext cx="24688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5B6474"/>
                </a:solidFill>
                <a:latin typeface="Helvetica Neue"/>
              </a:rPr>
              <a:t>one Markov network</a:t>
            </a:r>
          </a:p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5B6474"/>
                </a:solidFill>
                <a:latin typeface="Helvetica Neue"/>
              </a:rPr>
              <a:t>over all claims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67144" y="4498848"/>
            <a:ext cx="2788920" cy="1060704"/>
          </a:xfrm>
          <a:prstGeom prst="roundRect">
            <a:avLst>
              <a:gd name="adj" fmla="val 7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068312" y="4645152"/>
            <a:ext cx="24688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8A3FA8"/>
                </a:solidFill>
                <a:latin typeface="Helvetica Neue"/>
              </a:rPr>
              <a:t>Auditable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68312" y="4937760"/>
            <a:ext cx="24688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5B6474"/>
                </a:solidFill>
                <a:latin typeface="Helvetica Neue"/>
              </a:rPr>
              <a:t>every verdict traces</a:t>
            </a:r>
          </a:p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5B6474"/>
                </a:solidFill>
                <a:latin typeface="Helvetica Neue"/>
              </a:rPr>
              <a:t>to its evidence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961888"/>
            <a:ext cx="82296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i="0" dirty="0">
                <a:solidFill>
                  <a:srgbClr val="002060"/>
                </a:solidFill>
                <a:latin typeface="Helvetica Neue"/>
              </a:rPr>
              <a:t>IBM Research   ·   </a:t>
            </a:r>
            <a:r>
              <a:rPr sz="1200" i="0" dirty="0" err="1">
                <a:solidFill>
                  <a:srgbClr val="002060"/>
                </a:solidFill>
                <a:latin typeface="Helvetica Neue"/>
              </a:rPr>
              <a:t>github.com</a:t>
            </a:r>
            <a:r>
              <a:rPr sz="1200" i="0" dirty="0">
                <a:solidFill>
                  <a:srgbClr val="002060"/>
                </a:solidFill>
                <a:latin typeface="Helvetica Neue"/>
              </a:rPr>
              <a:t>/IBM/</a:t>
            </a:r>
            <a:r>
              <a:rPr sz="1200" i="0" dirty="0" err="1">
                <a:solidFill>
                  <a:srgbClr val="002060"/>
                </a:solidFill>
                <a:latin typeface="Helvetica Neue"/>
              </a:rPr>
              <a:t>FactReasoner</a:t>
            </a:r>
            <a:r>
              <a:rPr sz="1200" i="0" dirty="0">
                <a:solidFill>
                  <a:srgbClr val="002060"/>
                </a:solidFill>
                <a:latin typeface="Helvetica Neue"/>
              </a:rPr>
              <a:t>   ·   Apache 2.0</a:t>
            </a:r>
          </a:p>
        </p:txBody>
      </p:sp>
      <p:pic>
        <p:nvPicPr>
          <p:cNvPr id="17" name="Picture 16" descr="mellea_logo.png">
            <a:extLst>
              <a:ext uri="{FF2B5EF4-FFF2-40B4-BE49-F238E27FC236}">
                <a16:creationId xmlns:a16="http://schemas.microsoft.com/office/drawing/2014/main" id="{34A1D9F4-0602-9709-9855-06EC8A98D2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8320" y="2340864"/>
            <a:ext cx="1645920" cy="164592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E712CB11-C0B4-773F-E63F-59D8D0C2EF70}"/>
              </a:ext>
            </a:extLst>
          </p:cNvPr>
          <p:cNvSpPr txBox="1"/>
          <p:nvPr/>
        </p:nvSpPr>
        <p:spPr>
          <a:xfrm>
            <a:off x="9052560" y="4114800"/>
            <a:ext cx="23774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A8B2C2"/>
                </a:solidFill>
                <a:latin typeface="Helvetica Neue"/>
              </a:rPr>
              <a:t>powered by Mellea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023C5C5-9229-0F66-A122-A9E16B4C86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" y="3513"/>
            <a:ext cx="1459527" cy="145952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384048"/>
            <a:ext cx="108813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2D6CDF"/>
                </a:solidFill>
                <a:latin typeface="Helvetica Neue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0080"/>
            <a:ext cx="1088136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100" b="1" i="0">
                <a:solidFill>
                  <a:srgbClr val="1A1F2B"/>
                </a:solidFill>
                <a:latin typeface="Helvetica Neue"/>
              </a:rPr>
              <a:t>Long answers are part right, part wrong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88720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0" i="0">
                <a:solidFill>
                  <a:srgbClr val="5B6474"/>
                </a:solidFill>
                <a:latin typeface="Helvetica Neue"/>
              </a:rPr>
              <a:t>A single score for a whole paragraph hides which sentence is the hallucination.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572768"/>
            <a:ext cx="5577840" cy="4041648"/>
          </a:xfrm>
          <a:prstGeom prst="roundRect">
            <a:avLst>
              <a:gd name="adj" fmla="val 35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96112" y="1810512"/>
            <a:ext cx="51206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B6474"/>
                </a:solidFill>
                <a:latin typeface="Helvetica Neue"/>
              </a:rPr>
              <a:t>ONE RESPONSE  ·  FOUR CLAIMS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2139696"/>
            <a:ext cx="50292" cy="658368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97280" y="2157984"/>
            <a:ext cx="3401568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1A1F2B"/>
                </a:solidFill>
                <a:latin typeface="Helvetica Neue"/>
              </a:rPr>
              <a:t>Lanny Flaherty is an American actor.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468880"/>
            <a:ext cx="340156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1E8E5A"/>
                </a:solidFill>
                <a:latin typeface="Helvetica Neue"/>
              </a:rPr>
              <a:t>supported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0" y="2249424"/>
            <a:ext cx="10972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 i="0">
                <a:solidFill>
                  <a:srgbClr val="1E8E5A"/>
                </a:solidFill>
                <a:latin typeface="Helvetica Neue"/>
              </a:rPr>
              <a:t>0.97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6112" y="2999232"/>
            <a:ext cx="50292" cy="658368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97280" y="3017520"/>
            <a:ext cx="3401568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1A1F2B"/>
                </a:solidFill>
                <a:latin typeface="Helvetica Neue"/>
              </a:rPr>
              <a:t>He was born on December 18, 1949.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328416"/>
            <a:ext cx="340156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1E8E5A"/>
                </a:solidFill>
                <a:latin typeface="Helvetica Neue"/>
              </a:rPr>
              <a:t>supported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3108960"/>
            <a:ext cx="10972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 i="0">
                <a:solidFill>
                  <a:srgbClr val="1E8E5A"/>
                </a:solidFill>
                <a:latin typeface="Helvetica Neue"/>
              </a:rPr>
              <a:t>0.91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6112" y="3858768"/>
            <a:ext cx="50292" cy="658368"/>
          </a:xfrm>
          <a:prstGeom prst="rect">
            <a:avLst/>
          </a:prstGeom>
          <a:solidFill>
            <a:srgbClr val="C26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97280" y="3877056"/>
            <a:ext cx="3401568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1A1F2B"/>
                </a:solidFill>
                <a:latin typeface="Helvetica Neue"/>
              </a:rPr>
              <a:t>He appeared in “The Abyss.”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187952"/>
            <a:ext cx="340156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C26A11"/>
                </a:solidFill>
                <a:latin typeface="Helvetica Neue"/>
              </a:rPr>
              <a:t>no clear evidence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46320" y="3968496"/>
            <a:ext cx="10972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 i="0">
                <a:solidFill>
                  <a:srgbClr val="C26A11"/>
                </a:solidFill>
                <a:latin typeface="Helvetica Neue"/>
              </a:rPr>
              <a:t>0.52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96112" y="4718304"/>
            <a:ext cx="50292" cy="658368"/>
          </a:xfrm>
          <a:prstGeom prst="rect">
            <a:avLst/>
          </a:prstGeom>
          <a:solidFill>
            <a:srgbClr val="C03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97280" y="4736592"/>
            <a:ext cx="3401568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1A1F2B"/>
                </a:solidFill>
                <a:latin typeface="Helvetica Neue"/>
              </a:rPr>
              <a:t>He was born in Pensacola, Florida.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5047488"/>
            <a:ext cx="340156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C0393B"/>
                </a:solidFill>
                <a:latin typeface="Helvetica Neue"/>
              </a:rPr>
              <a:t>contradicted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46320" y="4828032"/>
            <a:ext cx="10972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 i="0">
                <a:solidFill>
                  <a:srgbClr val="C0393B"/>
                </a:solidFill>
                <a:latin typeface="Helvetica Neue"/>
              </a:rPr>
              <a:t>0.08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10528" y="1572768"/>
            <a:ext cx="5029200" cy="1847088"/>
          </a:xfrm>
          <a:prstGeom prst="roundRect">
            <a:avLst>
              <a:gd name="adj" fmla="val 5000"/>
            </a:avLst>
          </a:prstGeom>
          <a:noFill/>
          <a:ln w="12700">
            <a:solidFill>
              <a:srgbClr val="D6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766560" y="1792224"/>
            <a:ext cx="44805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B6474"/>
                </a:solidFill>
                <a:latin typeface="Helvetica Neue"/>
              </a:rPr>
              <a:t>THE USUAL APPROACH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66560" y="2121408"/>
            <a:ext cx="448056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50" b="0" i="0">
                <a:solidFill>
                  <a:srgbClr val="1A1F2B"/>
                </a:solidFill>
                <a:latin typeface="Helvetica Neue"/>
              </a:rPr>
              <a:t>Score each claim on its own, then average.</a:t>
            </a:r>
          </a:p>
          <a:p>
            <a:pPr algn="l">
              <a:lnSpc>
                <a:spcPct val="128000"/>
              </a:lnSpc>
            </a:pPr>
            <a:r>
              <a:rPr sz="1350" b="0" i="0">
                <a:solidFill>
                  <a:srgbClr val="1A1F2B"/>
                </a:solidFill>
                <a:latin typeface="Helvetica Neue"/>
              </a:rPr>
              <a:t>Evidence that disagrees is resolved by a</a:t>
            </a:r>
          </a:p>
          <a:p>
            <a:pPr algn="l">
              <a:lnSpc>
                <a:spcPct val="128000"/>
              </a:lnSpc>
            </a:pPr>
            <a:r>
              <a:rPr sz="1350" b="0" i="0">
                <a:solidFill>
                  <a:srgbClr val="1A1F2B"/>
                </a:solidFill>
                <a:latin typeface="Helvetica Neue"/>
              </a:rPr>
              <a:t>coin flip, and nothing notices when two</a:t>
            </a:r>
          </a:p>
          <a:p>
            <a:pPr algn="l">
              <a:lnSpc>
                <a:spcPct val="128000"/>
              </a:lnSpc>
            </a:pPr>
            <a:r>
              <a:rPr sz="1350" b="0" i="0">
                <a:solidFill>
                  <a:srgbClr val="1A1F2B"/>
                </a:solidFill>
                <a:latin typeface="Helvetica Neue"/>
              </a:rPr>
              <a:t>claims cannot both be true.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10528" y="3621024"/>
            <a:ext cx="5029200" cy="1993392"/>
          </a:xfrm>
          <a:prstGeom prst="roundRect">
            <a:avLst>
              <a:gd name="adj" fmla="val 5000"/>
            </a:avLst>
          </a:prstGeom>
          <a:solidFill>
            <a:srgbClr val="EC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766560" y="3840480"/>
            <a:ext cx="44805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D6CDF"/>
                </a:solidFill>
                <a:latin typeface="Helvetica Neue"/>
              </a:rPr>
              <a:t>FACTREASONER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66560" y="4169664"/>
            <a:ext cx="448056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50" b="0" i="0">
                <a:solidFill>
                  <a:srgbClr val="1A1F2B"/>
                </a:solidFill>
                <a:latin typeface="Helvetica Neue"/>
              </a:rPr>
              <a:t>Put every claim and every piece of evidence</a:t>
            </a:r>
          </a:p>
          <a:p>
            <a:pPr algn="l">
              <a:lnSpc>
                <a:spcPct val="128000"/>
              </a:lnSpc>
            </a:pPr>
            <a:r>
              <a:rPr sz="1350" b="0" i="0">
                <a:solidFill>
                  <a:srgbClr val="1A1F2B"/>
                </a:solidFill>
                <a:latin typeface="Helvetica Neue"/>
              </a:rPr>
              <a:t>into one graphical model, then infer all the</a:t>
            </a:r>
          </a:p>
          <a:p>
            <a:pPr algn="l">
              <a:lnSpc>
                <a:spcPct val="128000"/>
              </a:lnSpc>
            </a:pPr>
            <a:r>
              <a:rPr sz="1350" b="0" i="0">
                <a:solidFill>
                  <a:srgbClr val="1A1F2B"/>
                </a:solidFill>
                <a:latin typeface="Helvetica Neue"/>
              </a:rPr>
              <a:t>probabilities together — so conflicting sources</a:t>
            </a:r>
          </a:p>
          <a:p>
            <a:pPr algn="l">
              <a:lnSpc>
                <a:spcPct val="128000"/>
              </a:lnSpc>
            </a:pPr>
            <a:r>
              <a:rPr sz="1350" b="0" i="0">
                <a:solidFill>
                  <a:srgbClr val="1A1F2B"/>
                </a:solidFill>
                <a:latin typeface="Helvetica Neue"/>
              </a:rPr>
              <a:t>produce honest uncertainty instead of a guess.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" y="6419088"/>
            <a:ext cx="5486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9AA3B0"/>
                </a:solidFill>
                <a:latin typeface="Helvetica Neue"/>
              </a:rPr>
              <a:t>FactReasoner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7040" y="6419088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AA3B0"/>
                </a:solidFill>
                <a:latin typeface="Helvetica Neue"/>
              </a:rPr>
              <a:t>2 / 21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384048"/>
            <a:ext cx="108813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2D6CDF"/>
                </a:solidFill>
                <a:latin typeface="Helvetica Neue"/>
              </a:rPr>
              <a:t>HOW IT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0080"/>
            <a:ext cx="1088136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100" b="1" i="0">
                <a:solidFill>
                  <a:srgbClr val="1A1F2B"/>
                </a:solidFill>
                <a:latin typeface="Helvetica Neue"/>
              </a:rPr>
              <a:t>Five stages, one graph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88720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0" i="0">
                <a:solidFill>
                  <a:srgbClr val="5B6474"/>
                </a:solidFill>
                <a:latin typeface="Helvetica Neue"/>
              </a:rPr>
              <a:t>Text goes in; a calibrated probability per claim comes out.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755648"/>
            <a:ext cx="2048256" cy="2103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D6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58368" y="1755648"/>
            <a:ext cx="2048256" cy="365760"/>
          </a:xfrm>
          <a:prstGeom prst="rect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04672" y="1828800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Helvetica Neue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1828800"/>
            <a:ext cx="14630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Helvetica Neue"/>
              </a:rPr>
              <a:t>Atomize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304288"/>
            <a:ext cx="1755648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1A1F2B"/>
                </a:solidFill>
                <a:latin typeface="Helvetica Neue"/>
              </a:rPr>
              <a:t>Split the response</a:t>
            </a:r>
          </a:p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1A1F2B"/>
                </a:solidFill>
                <a:latin typeface="Helvetica Neue"/>
              </a:rPr>
              <a:t>into atomic claims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3419856"/>
            <a:ext cx="175564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D6CDF"/>
                </a:solidFill>
                <a:latin typeface="Menlo"/>
              </a:rPr>
              <a:t>Atomizer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724912" y="2670048"/>
            <a:ext cx="146304" cy="128016"/>
          </a:xfrm>
          <a:prstGeom prst="rightArrow">
            <a:avLst/>
          </a:prstGeom>
          <a:solidFill>
            <a:srgbClr val="D6D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2889504" y="1755648"/>
            <a:ext cx="2048256" cy="2103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D6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2889504" y="1755648"/>
            <a:ext cx="2048256" cy="365760"/>
          </a:xfrm>
          <a:prstGeom prst="rect">
            <a:avLst/>
          </a:prstGeom>
          <a:solidFill>
            <a:srgbClr val="5B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035808" y="1828800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Helvetica Neue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46704" y="1828800"/>
            <a:ext cx="14630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Helvetica Neue"/>
              </a:rPr>
              <a:t>Decontext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35808" y="2304288"/>
            <a:ext cx="1755648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1A1F2B"/>
                </a:solidFill>
                <a:latin typeface="Helvetica Neue"/>
              </a:rPr>
              <a:t>Resolve “he”, “this”,</a:t>
            </a:r>
          </a:p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1A1F2B"/>
                </a:solidFill>
                <a:latin typeface="Helvetica Neue"/>
              </a:rPr>
              <a:t>partial names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35808" y="3419856"/>
            <a:ext cx="175564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B4BC4"/>
                </a:solidFill>
                <a:latin typeface="Menlo"/>
              </a:rPr>
              <a:t>Reviser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4956048" y="2670048"/>
            <a:ext cx="146304" cy="128016"/>
          </a:xfrm>
          <a:prstGeom prst="rightArrow">
            <a:avLst/>
          </a:prstGeom>
          <a:solidFill>
            <a:srgbClr val="D6D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5120640" y="1755648"/>
            <a:ext cx="2048256" cy="2103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D6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120640" y="1755648"/>
            <a:ext cx="2048256" cy="365760"/>
          </a:xfrm>
          <a:prstGeom prst="rect">
            <a:avLst/>
          </a:prstGeom>
          <a:solidFill>
            <a:srgbClr val="8A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266944" y="1828800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Helvetica Neue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77840" y="1828800"/>
            <a:ext cx="14630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Helvetica Neue"/>
              </a:rPr>
              <a:t>Retrieve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66944" y="2304288"/>
            <a:ext cx="1755648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1A1F2B"/>
                </a:solidFill>
                <a:latin typeface="Helvetica Neue"/>
              </a:rPr>
              <a:t>Gather evidence per</a:t>
            </a:r>
          </a:p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1A1F2B"/>
                </a:solidFill>
                <a:latin typeface="Helvetica Neue"/>
              </a:rPr>
              <a:t>claim from the web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66944" y="3419856"/>
            <a:ext cx="175564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8A3FA8"/>
                </a:solidFill>
                <a:latin typeface="Menlo"/>
              </a:rPr>
              <a:t>ContextRetriever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7187184" y="2670048"/>
            <a:ext cx="146304" cy="128016"/>
          </a:xfrm>
          <a:prstGeom prst="rightArrow">
            <a:avLst/>
          </a:prstGeom>
          <a:solidFill>
            <a:srgbClr val="D6D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7351776" y="1755648"/>
            <a:ext cx="2048256" cy="2103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D6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351776" y="1755648"/>
            <a:ext cx="2048256" cy="365760"/>
          </a:xfrm>
          <a:prstGeom prst="rect">
            <a:avLst/>
          </a:prstGeom>
          <a:solidFill>
            <a:srgbClr val="B53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498080" y="1828800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Helvetica Neue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08976" y="1828800"/>
            <a:ext cx="14630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Helvetica Neue"/>
              </a:rPr>
              <a:t>Relate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80" y="2304288"/>
            <a:ext cx="1755648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1A1F2B"/>
                </a:solidFill>
                <a:latin typeface="Helvetica Neue"/>
              </a:rPr>
              <a:t>NLI: entail / contradict</a:t>
            </a:r>
          </a:p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1A1F2B"/>
                </a:solidFill>
                <a:latin typeface="Helvetica Neue"/>
              </a:rPr>
              <a:t>/ neutral, with a prob.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80" y="3419856"/>
            <a:ext cx="175564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B53D7A"/>
                </a:solidFill>
                <a:latin typeface="Menlo"/>
              </a:rPr>
              <a:t>NLIExtractor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9418320" y="2670048"/>
            <a:ext cx="146304" cy="128016"/>
          </a:xfrm>
          <a:prstGeom prst="rightArrow">
            <a:avLst/>
          </a:prstGeom>
          <a:solidFill>
            <a:srgbClr val="D6D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9582912" y="1755648"/>
            <a:ext cx="2048256" cy="2103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D6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9582912" y="1755648"/>
            <a:ext cx="2048256" cy="365760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9729216" y="1828800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Helvetica Neue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40112" y="1828800"/>
            <a:ext cx="14630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Helvetica Neue"/>
              </a:rPr>
              <a:t>Infer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29216" y="2304288"/>
            <a:ext cx="1755648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1A1F2B"/>
                </a:solidFill>
                <a:latin typeface="Helvetica Neue"/>
              </a:rPr>
              <a:t>Markov network +</a:t>
            </a:r>
          </a:p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1A1F2B"/>
                </a:solidFill>
                <a:latin typeface="Helvetica Neue"/>
              </a:rPr>
              <a:t>belief propagation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29216" y="3419856"/>
            <a:ext cx="175564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E8E5A"/>
                </a:solidFill>
                <a:latin typeface="Menlo"/>
              </a:rPr>
              <a:t>Merlin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58368" y="4114800"/>
            <a:ext cx="10881360" cy="1773936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914400" y="4261104"/>
            <a:ext cx="45720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B6474"/>
                </a:solidFill>
                <a:latin typeface="Helvetica Neue"/>
              </a:rPr>
              <a:t>STAGE 5  ·  THE MARKOV NETWORK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3209544" y="5029200"/>
            <a:ext cx="0" cy="310896"/>
          </a:xfrm>
          <a:prstGeom prst="line">
            <a:avLst/>
          </a:prstGeom>
          <a:ln w="16510">
            <a:solidFill>
              <a:srgbClr val="C2CB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3209544" y="5029200"/>
            <a:ext cx="1225296" cy="310896"/>
          </a:xfrm>
          <a:prstGeom prst="line">
            <a:avLst/>
          </a:prstGeom>
          <a:ln w="16510">
            <a:solidFill>
              <a:srgbClr val="C2CB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4434840" y="5029200"/>
            <a:ext cx="0" cy="310896"/>
          </a:xfrm>
          <a:prstGeom prst="line">
            <a:avLst/>
          </a:prstGeom>
          <a:ln w="16510">
            <a:solidFill>
              <a:srgbClr val="C2CB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5660136" y="5029200"/>
            <a:ext cx="0" cy="310896"/>
          </a:xfrm>
          <a:prstGeom prst="line">
            <a:avLst/>
          </a:prstGeom>
          <a:ln w="16510">
            <a:solidFill>
              <a:srgbClr val="C2CB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H="1">
            <a:off x="5660136" y="5029200"/>
            <a:ext cx="1225296" cy="310896"/>
          </a:xfrm>
          <a:prstGeom prst="line">
            <a:avLst/>
          </a:prstGeom>
          <a:ln w="16510">
            <a:solidFill>
              <a:srgbClr val="C2CB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6885432" y="5029200"/>
            <a:ext cx="0" cy="310896"/>
          </a:xfrm>
          <a:prstGeom prst="line">
            <a:avLst/>
          </a:prstGeom>
          <a:ln w="16510">
            <a:solidFill>
              <a:srgbClr val="C2CB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4434840" y="5029200"/>
            <a:ext cx="2450592" cy="310896"/>
          </a:xfrm>
          <a:prstGeom prst="line">
            <a:avLst/>
          </a:prstGeom>
          <a:ln w="16510">
            <a:solidFill>
              <a:srgbClr val="C2CB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Oval 47"/>
          <p:cNvSpPr/>
          <p:nvPr/>
        </p:nvSpPr>
        <p:spPr>
          <a:xfrm>
            <a:off x="3017520" y="4645152"/>
            <a:ext cx="384048" cy="384048"/>
          </a:xfrm>
          <a:prstGeom prst="ellipse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Helvetica Neue"/>
              </a:rPr>
              <a:t>a1</a:t>
            </a:r>
          </a:p>
        </p:txBody>
      </p:sp>
      <p:sp>
        <p:nvSpPr>
          <p:cNvPr id="49" name="Oval 48"/>
          <p:cNvSpPr/>
          <p:nvPr/>
        </p:nvSpPr>
        <p:spPr>
          <a:xfrm>
            <a:off x="4242816" y="4645152"/>
            <a:ext cx="384048" cy="384048"/>
          </a:xfrm>
          <a:prstGeom prst="ellipse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Helvetica Neue"/>
              </a:rPr>
              <a:t>a2</a:t>
            </a:r>
          </a:p>
        </p:txBody>
      </p:sp>
      <p:sp>
        <p:nvSpPr>
          <p:cNvPr id="50" name="Oval 49"/>
          <p:cNvSpPr/>
          <p:nvPr/>
        </p:nvSpPr>
        <p:spPr>
          <a:xfrm>
            <a:off x="5468112" y="4645152"/>
            <a:ext cx="384048" cy="384048"/>
          </a:xfrm>
          <a:prstGeom prst="ellipse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Helvetica Neue"/>
              </a:rPr>
              <a:t>a3</a:t>
            </a:r>
          </a:p>
        </p:txBody>
      </p:sp>
      <p:sp>
        <p:nvSpPr>
          <p:cNvPr id="51" name="Oval 50"/>
          <p:cNvSpPr/>
          <p:nvPr/>
        </p:nvSpPr>
        <p:spPr>
          <a:xfrm>
            <a:off x="6693408" y="4645152"/>
            <a:ext cx="384048" cy="384048"/>
          </a:xfrm>
          <a:prstGeom prst="ellipse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Helvetica Neue"/>
              </a:rPr>
              <a:t>a4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017520" y="5340096"/>
            <a:ext cx="384048" cy="384048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Helvetica Neue"/>
              </a:rPr>
              <a:t>c1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242816" y="5340096"/>
            <a:ext cx="384048" cy="384048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Helvetica Neue"/>
              </a:rPr>
              <a:t>c2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468112" y="5340096"/>
            <a:ext cx="384048" cy="384048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Helvetica Neue"/>
              </a:rPr>
              <a:t>c3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693408" y="5340096"/>
            <a:ext cx="384048" cy="384048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Helvetica Neue"/>
              </a:rPr>
              <a:t>c4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14400" y="4700016"/>
            <a:ext cx="19202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2D6CDF"/>
                </a:solidFill>
                <a:latin typeface="Helvetica Neue"/>
              </a:rPr>
              <a:t>claims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14400" y="5394960"/>
            <a:ext cx="19202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1E8E5A"/>
                </a:solidFill>
                <a:latin typeface="Helvetica Neue"/>
              </a:rPr>
              <a:t>evidence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321040" y="4846320"/>
            <a:ext cx="301752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5B6474"/>
                </a:solidFill>
                <a:latin typeface="Helvetica Neue"/>
              </a:rPr>
              <a:t>edges = NLI relations,</a:t>
            </a:r>
          </a:p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5B6474"/>
                </a:solidFill>
                <a:latin typeface="Helvetica Neue"/>
              </a:rPr>
              <a:t>weighted by probability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58368" y="6419088"/>
            <a:ext cx="5486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9AA3B0"/>
                </a:solidFill>
                <a:latin typeface="Helvetica Neue"/>
              </a:rPr>
              <a:t>FactReasoner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607040" y="6419088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AA3B0"/>
                </a:solidFill>
                <a:latin typeface="Helvetica Neue"/>
              </a:rPr>
              <a:t>3 / 21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384048"/>
            <a:ext cx="108813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2D6CDF"/>
                </a:solidFill>
                <a:latin typeface="Helvetica Neue"/>
              </a:rPr>
              <a:t>QUICKSTART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0080"/>
            <a:ext cx="1088136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100" b="1" i="0">
                <a:solidFill>
                  <a:srgbClr val="1A1F2B"/>
                </a:solidFill>
                <a:latin typeface="Helvetica Neue"/>
              </a:rPr>
              <a:t>The whole pipeline in eight lines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88720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0" i="0">
                <a:solidFill>
                  <a:srgbClr val="5B6474"/>
                </a:solidFill>
                <a:latin typeface="Helvetica Neue"/>
              </a:rPr>
              <a:t>FactualityRunner wires up every stage; you supply a backend and a response.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572768"/>
            <a:ext cx="6629400" cy="3745190"/>
          </a:xfrm>
          <a:prstGeom prst="roundRect">
            <a:avLst>
              <a:gd name="adj" fmla="val 3000"/>
            </a:avLst>
          </a:prstGeom>
          <a:solidFill>
            <a:srgbClr val="1E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28016" tIns="100584" rIns="128016" bIns="100584" rtlCol="0" anchor="t"/>
          <a:lstStyle/>
          <a:p>
            <a:pPr algn="l">
              <a:lnSpc>
                <a:spcPct val="116000"/>
              </a:lnSpc>
            </a:pPr>
            <a:r>
              <a:rPr sz="1150" dirty="0">
                <a:solidFill>
                  <a:srgbClr val="8BC5FF"/>
                </a:solidFill>
                <a:latin typeface="Menlo"/>
              </a:rPr>
              <a:t>from</a:t>
            </a:r>
            <a:r>
              <a:rPr sz="1150" dirty="0">
                <a:solidFill>
                  <a:srgbClr val="E6EAF2"/>
                </a:solidFill>
                <a:latin typeface="Menlo"/>
              </a:rPr>
              <a:t> </a:t>
            </a:r>
            <a:r>
              <a:rPr sz="1150" dirty="0" err="1">
                <a:solidFill>
                  <a:srgbClr val="E6EAF2"/>
                </a:solidFill>
                <a:latin typeface="Menlo"/>
              </a:rPr>
              <a:t>fact_reasoner.backends</a:t>
            </a:r>
            <a:r>
              <a:rPr sz="1150" dirty="0">
                <a:solidFill>
                  <a:srgbClr val="E6EAF2"/>
                </a:solidFill>
                <a:latin typeface="Menlo"/>
              </a:rPr>
              <a:t> </a:t>
            </a:r>
            <a:r>
              <a:rPr sz="1150" dirty="0">
                <a:solidFill>
                  <a:srgbClr val="8BC5FF"/>
                </a:solidFill>
                <a:latin typeface="Menlo"/>
              </a:rPr>
              <a:t>import</a:t>
            </a:r>
            <a:r>
              <a:rPr sz="1150" dirty="0">
                <a:solidFill>
                  <a:srgbClr val="E6EAF2"/>
                </a:solidFill>
                <a:latin typeface="Menlo"/>
              </a:rPr>
              <a:t> </a:t>
            </a:r>
            <a:r>
              <a:rPr sz="1150" dirty="0" err="1">
                <a:solidFill>
                  <a:srgbClr val="E6EAF2"/>
                </a:solidFill>
                <a:latin typeface="Menlo"/>
              </a:rPr>
              <a:t>build_backend</a:t>
            </a:r>
            <a:endParaRPr sz="1150" dirty="0">
              <a:solidFill>
                <a:srgbClr val="E6EAF2"/>
              </a:solidFill>
              <a:latin typeface="Menlo"/>
            </a:endParaRPr>
          </a:p>
          <a:p>
            <a:pPr algn="l">
              <a:lnSpc>
                <a:spcPct val="116000"/>
              </a:lnSpc>
            </a:pPr>
            <a:r>
              <a:rPr sz="1150" dirty="0">
                <a:solidFill>
                  <a:srgbClr val="8BC5FF"/>
                </a:solidFill>
                <a:latin typeface="Menlo"/>
              </a:rPr>
              <a:t>from</a:t>
            </a:r>
            <a:r>
              <a:rPr sz="1150" dirty="0">
                <a:solidFill>
                  <a:srgbClr val="E6EAF2"/>
                </a:solidFill>
                <a:latin typeface="Menlo"/>
              </a:rPr>
              <a:t> </a:t>
            </a:r>
            <a:r>
              <a:rPr sz="1150" dirty="0" err="1">
                <a:solidFill>
                  <a:srgbClr val="E6EAF2"/>
                </a:solidFill>
                <a:latin typeface="Menlo"/>
              </a:rPr>
              <a:t>fact_reasoner.runner</a:t>
            </a:r>
            <a:r>
              <a:rPr sz="1150" dirty="0">
                <a:solidFill>
                  <a:srgbClr val="E6EAF2"/>
                </a:solidFill>
                <a:latin typeface="Menlo"/>
              </a:rPr>
              <a:t> </a:t>
            </a:r>
            <a:r>
              <a:rPr sz="1150" dirty="0">
                <a:solidFill>
                  <a:srgbClr val="8BC5FF"/>
                </a:solidFill>
                <a:latin typeface="Menlo"/>
              </a:rPr>
              <a:t>import</a:t>
            </a:r>
            <a:r>
              <a:rPr sz="1150" dirty="0">
                <a:solidFill>
                  <a:srgbClr val="E6EAF2"/>
                </a:solidFill>
                <a:latin typeface="Menlo"/>
              </a:rPr>
              <a:t> </a:t>
            </a:r>
            <a:r>
              <a:rPr sz="1150" dirty="0" err="1">
                <a:solidFill>
                  <a:srgbClr val="E6EAF2"/>
                </a:solidFill>
                <a:latin typeface="Menlo"/>
              </a:rPr>
              <a:t>FactualityRunner</a:t>
            </a:r>
            <a:endParaRPr sz="1150" dirty="0">
              <a:solidFill>
                <a:srgbClr val="E6EAF2"/>
              </a:solidFill>
              <a:latin typeface="Menlo"/>
            </a:endParaRPr>
          </a:p>
          <a:p>
            <a:pPr algn="l">
              <a:lnSpc>
                <a:spcPct val="116000"/>
              </a:lnSpc>
            </a:pPr>
            <a:endParaRPr sz="1150" dirty="0">
              <a:solidFill>
                <a:srgbClr val="E6EAF2"/>
              </a:solidFill>
              <a:latin typeface="Menlo"/>
            </a:endParaRPr>
          </a:p>
          <a:p>
            <a:pPr algn="l">
              <a:lnSpc>
                <a:spcPct val="116000"/>
              </a:lnSpc>
            </a:pPr>
            <a:r>
              <a:rPr sz="1150" dirty="0">
                <a:solidFill>
                  <a:srgbClr val="8A93A5"/>
                </a:solidFill>
                <a:latin typeface="Menlo"/>
              </a:rPr>
              <a:t># One of: </a:t>
            </a:r>
            <a:r>
              <a:rPr sz="1150" dirty="0" err="1">
                <a:solidFill>
                  <a:srgbClr val="8A93A5"/>
                </a:solidFill>
                <a:latin typeface="Menlo"/>
              </a:rPr>
              <a:t>rits</a:t>
            </a:r>
            <a:r>
              <a:rPr sz="1150" dirty="0">
                <a:solidFill>
                  <a:srgbClr val="8A93A5"/>
                </a:solidFill>
                <a:latin typeface="Menlo"/>
              </a:rPr>
              <a:t> | </a:t>
            </a:r>
            <a:r>
              <a:rPr sz="1150" dirty="0" err="1">
                <a:solidFill>
                  <a:srgbClr val="8A93A5"/>
                </a:solidFill>
                <a:latin typeface="Menlo"/>
              </a:rPr>
              <a:t>ollama</a:t>
            </a:r>
            <a:r>
              <a:rPr sz="1150" dirty="0">
                <a:solidFill>
                  <a:srgbClr val="8A93A5"/>
                </a:solidFill>
                <a:latin typeface="Menlo"/>
              </a:rPr>
              <a:t> | </a:t>
            </a:r>
            <a:r>
              <a:rPr sz="1150" dirty="0" err="1">
                <a:solidFill>
                  <a:srgbClr val="8A93A5"/>
                </a:solidFill>
                <a:latin typeface="Menlo"/>
              </a:rPr>
              <a:t>vllm</a:t>
            </a:r>
            <a:r>
              <a:rPr sz="1150" dirty="0">
                <a:solidFill>
                  <a:srgbClr val="8A93A5"/>
                </a:solidFill>
                <a:latin typeface="Menlo"/>
              </a:rPr>
              <a:t> | </a:t>
            </a:r>
            <a:r>
              <a:rPr sz="1150" dirty="0" err="1">
                <a:solidFill>
                  <a:srgbClr val="8A93A5"/>
                </a:solidFill>
                <a:latin typeface="Menlo"/>
              </a:rPr>
              <a:t>openai</a:t>
            </a:r>
            <a:endParaRPr sz="1150" dirty="0">
              <a:solidFill>
                <a:srgbClr val="8A93A5"/>
              </a:solidFill>
              <a:latin typeface="Menlo"/>
            </a:endParaRPr>
          </a:p>
          <a:p>
            <a:pPr algn="l">
              <a:lnSpc>
                <a:spcPct val="116000"/>
              </a:lnSpc>
            </a:pPr>
            <a:r>
              <a:rPr sz="1150" dirty="0">
                <a:solidFill>
                  <a:srgbClr val="E6EAF2"/>
                </a:solidFill>
                <a:latin typeface="Menlo"/>
              </a:rPr>
              <a:t>backend = </a:t>
            </a:r>
            <a:r>
              <a:rPr sz="1150" dirty="0" err="1">
                <a:solidFill>
                  <a:srgbClr val="E6EAF2"/>
                </a:solidFill>
                <a:latin typeface="Menlo"/>
              </a:rPr>
              <a:t>build_backend</a:t>
            </a:r>
            <a:r>
              <a:rPr sz="1150" dirty="0">
                <a:solidFill>
                  <a:srgbClr val="E6EAF2"/>
                </a:solidFill>
                <a:latin typeface="Menlo"/>
              </a:rPr>
              <a:t>(</a:t>
            </a:r>
            <a:r>
              <a:rPr sz="1150" dirty="0">
                <a:solidFill>
                  <a:srgbClr val="A8E0A0"/>
                </a:solidFill>
                <a:latin typeface="Menlo"/>
              </a:rPr>
              <a:t>"</a:t>
            </a:r>
            <a:r>
              <a:rPr sz="1150" dirty="0" err="1">
                <a:solidFill>
                  <a:srgbClr val="A8E0A0"/>
                </a:solidFill>
                <a:latin typeface="Menlo"/>
              </a:rPr>
              <a:t>rits</a:t>
            </a:r>
            <a:r>
              <a:rPr sz="1150" dirty="0">
                <a:solidFill>
                  <a:srgbClr val="A8E0A0"/>
                </a:solidFill>
                <a:latin typeface="Menlo"/>
              </a:rPr>
              <a:t>"</a:t>
            </a:r>
            <a:r>
              <a:rPr sz="1150" dirty="0">
                <a:solidFill>
                  <a:srgbClr val="E6EAF2"/>
                </a:solidFill>
                <a:latin typeface="Menlo"/>
              </a:rPr>
              <a:t>)</a:t>
            </a:r>
          </a:p>
          <a:p>
            <a:pPr algn="l">
              <a:lnSpc>
                <a:spcPct val="116000"/>
              </a:lnSpc>
            </a:pPr>
            <a:endParaRPr sz="1150" dirty="0">
              <a:solidFill>
                <a:srgbClr val="E6EAF2"/>
              </a:solidFill>
              <a:latin typeface="Menlo"/>
            </a:endParaRPr>
          </a:p>
          <a:p>
            <a:pPr algn="l">
              <a:lnSpc>
                <a:spcPct val="116000"/>
              </a:lnSpc>
            </a:pPr>
            <a:r>
              <a:rPr sz="1150" dirty="0">
                <a:solidFill>
                  <a:srgbClr val="E6EAF2"/>
                </a:solidFill>
                <a:latin typeface="Menlo"/>
              </a:rPr>
              <a:t>runner = </a:t>
            </a:r>
            <a:r>
              <a:rPr sz="1150" dirty="0" err="1">
                <a:solidFill>
                  <a:srgbClr val="E6EAF2"/>
                </a:solidFill>
                <a:latin typeface="Menlo"/>
              </a:rPr>
              <a:t>FactualityRunner</a:t>
            </a:r>
            <a:r>
              <a:rPr sz="1150" dirty="0">
                <a:solidFill>
                  <a:srgbClr val="E6EAF2"/>
                </a:solidFill>
                <a:latin typeface="Menlo"/>
              </a:rPr>
              <a:t>(</a:t>
            </a:r>
          </a:p>
          <a:p>
            <a:pPr algn="l">
              <a:lnSpc>
                <a:spcPct val="116000"/>
              </a:lnSpc>
            </a:pPr>
            <a:r>
              <a:rPr sz="1150" dirty="0">
                <a:solidFill>
                  <a:srgbClr val="E6EAF2"/>
                </a:solidFill>
                <a:latin typeface="Menlo"/>
              </a:rPr>
              <a:t>    backend,</a:t>
            </a:r>
          </a:p>
          <a:p>
            <a:pPr algn="l">
              <a:lnSpc>
                <a:spcPct val="116000"/>
              </a:lnSpc>
            </a:pPr>
            <a:r>
              <a:rPr sz="1150" dirty="0">
                <a:solidFill>
                  <a:srgbClr val="E6EAF2"/>
                </a:solidFill>
                <a:latin typeface="Menlo"/>
              </a:rPr>
              <a:t>    </a:t>
            </a:r>
            <a:r>
              <a:rPr sz="1150" dirty="0" err="1">
                <a:solidFill>
                  <a:srgbClr val="E6EAF2"/>
                </a:solidFill>
                <a:latin typeface="Menlo"/>
              </a:rPr>
              <a:t>merlin_path</a:t>
            </a:r>
            <a:r>
              <a:rPr sz="1150" dirty="0">
                <a:solidFill>
                  <a:srgbClr val="E6EAF2"/>
                </a:solidFill>
                <a:latin typeface="Menlo"/>
              </a:rPr>
              <a:t>=</a:t>
            </a:r>
            <a:r>
              <a:rPr sz="1150" dirty="0">
                <a:solidFill>
                  <a:srgbClr val="A8E0A0"/>
                </a:solidFill>
                <a:latin typeface="Menlo"/>
              </a:rPr>
              <a:t>"/path/to/merlin"</a:t>
            </a:r>
            <a:r>
              <a:rPr sz="1150" dirty="0">
                <a:solidFill>
                  <a:srgbClr val="E6EAF2"/>
                </a:solidFill>
                <a:latin typeface="Menlo"/>
              </a:rPr>
              <a:t>,   # inference engine</a:t>
            </a:r>
          </a:p>
          <a:p>
            <a:pPr algn="l">
              <a:lnSpc>
                <a:spcPct val="116000"/>
              </a:lnSpc>
            </a:pPr>
            <a:r>
              <a:rPr sz="1150" dirty="0">
                <a:solidFill>
                  <a:srgbClr val="E6EAF2"/>
                </a:solidFill>
                <a:latin typeface="Menlo"/>
              </a:rPr>
              <a:t>    </a:t>
            </a:r>
            <a:r>
              <a:rPr sz="1150" dirty="0" err="1">
                <a:solidFill>
                  <a:srgbClr val="E6EAF2"/>
                </a:solidFill>
                <a:latin typeface="Menlo"/>
              </a:rPr>
              <a:t>nli_mode</a:t>
            </a:r>
            <a:r>
              <a:rPr sz="1150" dirty="0">
                <a:solidFill>
                  <a:srgbClr val="E6EAF2"/>
                </a:solidFill>
                <a:latin typeface="Menlo"/>
              </a:rPr>
              <a:t>=</a:t>
            </a:r>
            <a:r>
              <a:rPr sz="1150" dirty="0">
                <a:solidFill>
                  <a:srgbClr val="A8E0A0"/>
                </a:solidFill>
                <a:latin typeface="Menlo"/>
              </a:rPr>
              <a:t>"fast"</a:t>
            </a:r>
            <a:r>
              <a:rPr sz="1150" dirty="0">
                <a:solidFill>
                  <a:srgbClr val="E6EAF2"/>
                </a:solidFill>
                <a:latin typeface="Menlo"/>
              </a:rPr>
              <a:t>,                 # ~1.2-5x fewer NLI calls</a:t>
            </a:r>
          </a:p>
          <a:p>
            <a:pPr algn="l">
              <a:lnSpc>
                <a:spcPct val="116000"/>
              </a:lnSpc>
            </a:pPr>
            <a:r>
              <a:rPr sz="1150" dirty="0">
                <a:solidFill>
                  <a:srgbClr val="E6EAF2"/>
                </a:solidFill>
                <a:latin typeface="Menlo"/>
              </a:rPr>
              <a:t>)</a:t>
            </a:r>
          </a:p>
          <a:p>
            <a:pPr algn="l">
              <a:lnSpc>
                <a:spcPct val="116000"/>
              </a:lnSpc>
            </a:pPr>
            <a:endParaRPr sz="1150" dirty="0">
              <a:solidFill>
                <a:srgbClr val="E6EAF2"/>
              </a:solidFill>
              <a:latin typeface="Menlo"/>
            </a:endParaRPr>
          </a:p>
          <a:p>
            <a:pPr algn="l">
              <a:lnSpc>
                <a:spcPct val="116000"/>
              </a:lnSpc>
            </a:pPr>
            <a:r>
              <a:rPr sz="1150" dirty="0">
                <a:solidFill>
                  <a:srgbClr val="E6EAF2"/>
                </a:solidFill>
                <a:latin typeface="Menlo"/>
              </a:rPr>
              <a:t>results = </a:t>
            </a:r>
            <a:r>
              <a:rPr sz="1150" dirty="0" err="1">
                <a:solidFill>
                  <a:srgbClr val="E6EAF2"/>
                </a:solidFill>
                <a:latin typeface="Menlo"/>
              </a:rPr>
              <a:t>runner.assess</a:t>
            </a:r>
            <a:r>
              <a:rPr sz="1150" dirty="0">
                <a:solidFill>
                  <a:srgbClr val="E6EAF2"/>
                </a:solidFill>
                <a:latin typeface="Menlo"/>
              </a:rPr>
              <a:t>(</a:t>
            </a:r>
          </a:p>
          <a:p>
            <a:pPr algn="l">
              <a:lnSpc>
                <a:spcPct val="116000"/>
              </a:lnSpc>
            </a:pPr>
            <a:r>
              <a:rPr sz="1150" dirty="0">
                <a:solidFill>
                  <a:srgbClr val="E6EAF2"/>
                </a:solidFill>
                <a:latin typeface="Menlo"/>
              </a:rPr>
              <a:t>    query=</a:t>
            </a:r>
            <a:r>
              <a:rPr sz="1150" dirty="0">
                <a:solidFill>
                  <a:srgbClr val="A8E0A0"/>
                </a:solidFill>
                <a:latin typeface="Menlo"/>
              </a:rPr>
              <a:t>"Tell me a biography of Lanny Flaherty"</a:t>
            </a:r>
            <a:r>
              <a:rPr sz="1150" dirty="0">
                <a:solidFill>
                  <a:srgbClr val="E6EAF2"/>
                </a:solidFill>
                <a:latin typeface="Menlo"/>
              </a:rPr>
              <a:t>,</a:t>
            </a:r>
          </a:p>
          <a:p>
            <a:pPr algn="l">
              <a:lnSpc>
                <a:spcPct val="116000"/>
              </a:lnSpc>
            </a:pPr>
            <a:r>
              <a:rPr sz="1150" dirty="0">
                <a:solidFill>
                  <a:srgbClr val="E6EAF2"/>
                </a:solidFill>
                <a:latin typeface="Menlo"/>
              </a:rPr>
              <a:t>    response=RESPONSE,</a:t>
            </a:r>
          </a:p>
          <a:p>
            <a:pPr algn="l">
              <a:lnSpc>
                <a:spcPct val="116000"/>
              </a:lnSpc>
            </a:pPr>
            <a:r>
              <a:rPr sz="1150" dirty="0">
                <a:solidFill>
                  <a:srgbClr val="E6EAF2"/>
                </a:solidFill>
                <a:latin typeface="Menlo"/>
              </a:rPr>
              <a:t>)</a:t>
            </a:r>
          </a:p>
          <a:p>
            <a:pPr algn="l">
              <a:lnSpc>
                <a:spcPct val="116000"/>
              </a:lnSpc>
            </a:pPr>
            <a:r>
              <a:rPr sz="1150" dirty="0">
                <a:solidFill>
                  <a:srgbClr val="8BC5FF"/>
                </a:solidFill>
                <a:latin typeface="Menlo"/>
              </a:rPr>
              <a:t>print</a:t>
            </a:r>
            <a:r>
              <a:rPr sz="1150" dirty="0">
                <a:solidFill>
                  <a:srgbClr val="E6EAF2"/>
                </a:solidFill>
                <a:latin typeface="Menlo"/>
              </a:rPr>
              <a:t>(results[</a:t>
            </a:r>
            <a:r>
              <a:rPr sz="1150" dirty="0">
                <a:solidFill>
                  <a:srgbClr val="A8E0A0"/>
                </a:solidFill>
                <a:latin typeface="Menlo"/>
              </a:rPr>
              <a:t>"</a:t>
            </a:r>
            <a:r>
              <a:rPr sz="1150" dirty="0" err="1">
                <a:solidFill>
                  <a:srgbClr val="A8E0A0"/>
                </a:solidFill>
                <a:latin typeface="Menlo"/>
              </a:rPr>
              <a:t>factuality_score</a:t>
            </a:r>
            <a:r>
              <a:rPr sz="1150" dirty="0">
                <a:solidFill>
                  <a:srgbClr val="A8E0A0"/>
                </a:solidFill>
                <a:latin typeface="Menlo"/>
              </a:rPr>
              <a:t>"</a:t>
            </a:r>
            <a:r>
              <a:rPr sz="1150" dirty="0">
                <a:solidFill>
                  <a:srgbClr val="E6EAF2"/>
                </a:solidFill>
                <a:latin typeface="Menlo"/>
              </a:rPr>
              <a:t>], results[</a:t>
            </a:r>
            <a:r>
              <a:rPr sz="1150" dirty="0">
                <a:solidFill>
                  <a:srgbClr val="A8E0A0"/>
                </a:solidFill>
                <a:latin typeface="Menlo"/>
              </a:rPr>
              <a:t>"</a:t>
            </a:r>
            <a:r>
              <a:rPr sz="1150" dirty="0" err="1">
                <a:solidFill>
                  <a:srgbClr val="A8E0A0"/>
                </a:solidFill>
                <a:latin typeface="Menlo"/>
              </a:rPr>
              <a:t>num_atoms</a:t>
            </a:r>
            <a:r>
              <a:rPr sz="1150" dirty="0">
                <a:solidFill>
                  <a:srgbClr val="A8E0A0"/>
                </a:solidFill>
                <a:latin typeface="Menlo"/>
              </a:rPr>
              <a:t>"</a:t>
            </a:r>
            <a:r>
              <a:rPr sz="1150" dirty="0">
                <a:solidFill>
                  <a:srgbClr val="E6EAF2"/>
                </a:solidFill>
                <a:latin typeface="Menlo"/>
              </a:rPr>
              <a:t>])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571231" y="1572768"/>
            <a:ext cx="3968496" cy="1700784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808975" y="1773936"/>
            <a:ext cx="34747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B6474"/>
                </a:solidFill>
                <a:latin typeface="Helvetica Neue"/>
              </a:rPr>
              <a:t>OR FROM THE SHELL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08975" y="2084832"/>
            <a:ext cx="3493008" cy="932688"/>
          </a:xfrm>
          <a:prstGeom prst="roundRect">
            <a:avLst>
              <a:gd name="adj" fmla="val 3000"/>
            </a:avLst>
          </a:prstGeom>
          <a:solidFill>
            <a:srgbClr val="1E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28016" tIns="100584" rIns="128016" bIns="100584" rtlCol="0" anchor="t"/>
          <a:lstStyle/>
          <a:p>
            <a:pPr algn="l">
              <a:lnSpc>
                <a:spcPct val="116000"/>
              </a:lnSpc>
            </a:pPr>
            <a:r>
              <a:rPr sz="1000">
                <a:solidFill>
                  <a:srgbClr val="E6EAF2"/>
                </a:solidFill>
                <a:latin typeface="Menlo"/>
              </a:rPr>
              <a:t>fact-reasoner \</a:t>
            </a:r>
          </a:p>
          <a:p>
            <a:pPr algn="l">
              <a:lnSpc>
                <a:spcPct val="116000"/>
              </a:lnSpc>
            </a:pPr>
            <a:r>
              <a:rPr sz="1000">
                <a:solidFill>
                  <a:srgbClr val="E6EAF2"/>
                </a:solidFill>
                <a:latin typeface="Menlo"/>
              </a:rPr>
              <a:t>  --query </a:t>
            </a:r>
            <a:r>
              <a:rPr sz="1000">
                <a:solidFill>
                  <a:srgbClr val="A8E0A0"/>
                </a:solidFill>
                <a:latin typeface="Menlo"/>
              </a:rPr>
              <a:t>"..."</a:t>
            </a:r>
            <a:r>
              <a:rPr sz="1000">
                <a:solidFill>
                  <a:srgbClr val="E6EAF2"/>
                </a:solidFill>
                <a:latin typeface="Menlo"/>
              </a:rPr>
              <a:t> --response </a:t>
            </a:r>
            <a:r>
              <a:rPr sz="1000">
                <a:solidFill>
                  <a:srgbClr val="A8E0A0"/>
                </a:solidFill>
                <a:latin typeface="Menlo"/>
              </a:rPr>
              <a:t>"..."</a:t>
            </a:r>
            <a:r>
              <a:rPr sz="1000">
                <a:solidFill>
                  <a:srgbClr val="E6EAF2"/>
                </a:solidFill>
                <a:latin typeface="Menlo"/>
              </a:rPr>
              <a:t> \</a:t>
            </a:r>
          </a:p>
          <a:p>
            <a:pPr algn="l">
              <a:lnSpc>
                <a:spcPct val="116000"/>
              </a:lnSpc>
            </a:pPr>
            <a:r>
              <a:rPr sz="1000">
                <a:solidFill>
                  <a:srgbClr val="E6EAF2"/>
                </a:solidFill>
                <a:latin typeface="Menlo"/>
              </a:rPr>
              <a:t>  --merlin-path /path/to/merlin \</a:t>
            </a:r>
          </a:p>
          <a:p>
            <a:pPr algn="l">
              <a:lnSpc>
                <a:spcPct val="116000"/>
              </a:lnSpc>
            </a:pPr>
            <a:r>
              <a:rPr sz="1000">
                <a:solidFill>
                  <a:srgbClr val="E6EAF2"/>
                </a:solidFill>
                <a:latin typeface="Menlo"/>
              </a:rPr>
              <a:t>  --nli-mode fast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71231" y="3438144"/>
            <a:ext cx="3968496" cy="1380744"/>
          </a:xfrm>
          <a:prstGeom prst="roundRect">
            <a:avLst>
              <a:gd name="adj" fmla="val 5500"/>
            </a:avLst>
          </a:prstGeom>
          <a:solidFill>
            <a:schemeClr val="accent3">
              <a:lumMod val="20000"/>
              <a:lumOff val="80000"/>
            </a:schemeClr>
          </a:solidFill>
          <a:ln w="12700">
            <a:solidFill>
              <a:srgbClr val="D6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808975" y="3621024"/>
            <a:ext cx="34747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B6474"/>
                </a:solidFill>
                <a:latin typeface="Helvetica Neue"/>
              </a:rPr>
              <a:t>WHAT COMES BACK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08975" y="3931920"/>
            <a:ext cx="21031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1A1F2B"/>
                </a:solidFill>
                <a:latin typeface="Menlo"/>
              </a:rPr>
              <a:t>factuality_score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66960" y="3931920"/>
            <a:ext cx="13716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2D6CDF"/>
                </a:solidFill>
                <a:latin typeface="Helvetica Neue"/>
              </a:rPr>
              <a:t>0.74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08975" y="4215384"/>
            <a:ext cx="21031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1A1F2B"/>
                </a:solidFill>
                <a:latin typeface="Menlo"/>
              </a:rPr>
              <a:t>num_atoms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0" y="4215384"/>
            <a:ext cx="13716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2D6CDF"/>
                </a:solidFill>
                <a:latin typeface="Helvetica Neue"/>
              </a:rPr>
              <a:t>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08975" y="4498848"/>
            <a:ext cx="21031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1A1F2B"/>
                </a:solidFill>
                <a:latin typeface="Menlo"/>
              </a:rPr>
              <a:t>marginals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66960" y="4498848"/>
            <a:ext cx="13716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>
                <a:solidFill>
                  <a:srgbClr val="2D6CDF"/>
                </a:solidFill>
                <a:latin typeface="Helvetica Neue"/>
              </a:rPr>
              <a:t>P(a_i) per claim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5394960"/>
            <a:ext cx="1088136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5B6474"/>
                </a:solidFill>
                <a:latin typeface="Helvetica Neue"/>
              </a:rPr>
              <a:t>Three graph shapes, same call:  v1 claim↔its own evidence   ·   v2 claim↔all evidence (default)   ·   v3 v2 + evidence↔evidence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6419088"/>
            <a:ext cx="5486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9AA3B0"/>
                </a:solidFill>
                <a:latin typeface="Helvetica Neue"/>
              </a:rPr>
              <a:t>FactReasoner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7040" y="6419088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AA3B0"/>
                </a:solidFill>
                <a:latin typeface="Helvetica Neue"/>
              </a:rPr>
              <a:t>4 / 21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384048"/>
            <a:ext cx="108813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2D6CDF"/>
                </a:solidFill>
                <a:latin typeface="Helvetica Neue"/>
              </a:rPr>
              <a:t>COMPONENT 1 OF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0080"/>
            <a:ext cx="1088136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100" b="1" i="0">
                <a:solidFill>
                  <a:srgbClr val="1A1F2B"/>
                </a:solidFill>
                <a:latin typeface="Helvetica Neue"/>
              </a:rPr>
              <a:t>Atomizer — split the response into claims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88720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0" i="0">
                <a:solidFill>
                  <a:srgbClr val="5B6474"/>
                </a:solidFill>
                <a:latin typeface="Helvetica Neue"/>
              </a:rPr>
              <a:t>One prompt, one validated Mellea call. The same shape repeats for every component.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636776"/>
            <a:ext cx="541324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D6CDF"/>
                </a:solidFill>
                <a:latin typeface="Helvetica Neue"/>
              </a:rPr>
              <a:t>INSTRUCTION_ATOMIZER  (abridged)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883664"/>
            <a:ext cx="5413248" cy="3346704"/>
          </a:xfrm>
          <a:prstGeom prst="roundRect">
            <a:avLst>
              <a:gd name="adj" fmla="val 3000"/>
            </a:avLst>
          </a:prstGeom>
          <a:solidFill>
            <a:srgbClr val="FAFBFD"/>
          </a:solidFill>
          <a:ln w="12700">
            <a:solidFill>
              <a:srgbClr val="DD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91440" rIns="109728" bIns="73152" rtlCol="0" anchor="t"/>
          <a:lstStyle/>
          <a:p>
            <a:pPr algn="l">
              <a:lnSpc>
                <a:spcPct val="114000"/>
              </a:lnSpc>
            </a:pPr>
            <a:r>
              <a:rPr sz="1000">
                <a:solidFill>
                  <a:srgbClr val="1A1F2B"/>
                </a:solidFill>
                <a:latin typeface="Menlo"/>
              </a:rPr>
              <a:t>Your task is to break down a given paragraph</a:t>
            </a:r>
          </a:p>
          <a:p>
            <a:pPr algn="l">
              <a:lnSpc>
                <a:spcPct val="114000"/>
              </a:lnSpc>
            </a:pPr>
            <a:r>
              <a:rPr sz="1000">
                <a:solidFill>
                  <a:srgbClr val="1A1F2B"/>
                </a:solidFill>
                <a:latin typeface="Menlo"/>
              </a:rPr>
              <a:t>into a set of atomic units without adding</a:t>
            </a:r>
          </a:p>
          <a:p>
            <a:pPr algn="l">
              <a:lnSpc>
                <a:spcPct val="114000"/>
              </a:lnSpc>
            </a:pPr>
            <a:r>
              <a:rPr sz="1000">
                <a:solidFill>
                  <a:srgbClr val="1A1F2B"/>
                </a:solidFill>
                <a:latin typeface="Menlo"/>
              </a:rPr>
              <a:t>any new information.</a:t>
            </a:r>
          </a:p>
          <a:p>
            <a:pPr algn="l">
              <a:lnSpc>
                <a:spcPct val="114000"/>
              </a:lnSpc>
            </a:pPr>
            <a:endParaRPr sz="1000">
              <a:solidFill>
                <a:srgbClr val="1A1F2B"/>
              </a:solidFill>
              <a:latin typeface="Menlo"/>
            </a:endParaRPr>
          </a:p>
          <a:p>
            <a:pPr algn="l">
              <a:lnSpc>
                <a:spcPct val="114000"/>
              </a:lnSpc>
            </a:pPr>
            <a:r>
              <a:rPr sz="1000">
                <a:solidFill>
                  <a:srgbClr val="1A1F2B"/>
                </a:solidFill>
                <a:latin typeface="Menlo"/>
              </a:rPr>
              <a:t>Rules:</a:t>
            </a:r>
          </a:p>
          <a:p>
            <a:pPr algn="l">
              <a:lnSpc>
                <a:spcPct val="114000"/>
              </a:lnSpc>
            </a:pPr>
            <a:r>
              <a:rPr sz="1000">
                <a:solidFill>
                  <a:srgbClr val="5B6474"/>
                </a:solidFill>
                <a:latin typeface="Menlo"/>
              </a:rPr>
              <a:t>- An atomic unit is the smallest sentence</a:t>
            </a:r>
          </a:p>
          <a:p>
            <a:pPr algn="l">
              <a:lnSpc>
                <a:spcPct val="114000"/>
              </a:lnSpc>
            </a:pPr>
            <a:r>
              <a:rPr sz="1000">
                <a:solidFill>
                  <a:srgbClr val="1A1F2B"/>
                </a:solidFill>
                <a:latin typeface="Menlo"/>
              </a:rPr>
              <a:t>  containing a singular piece of information.</a:t>
            </a:r>
          </a:p>
          <a:p>
            <a:pPr algn="l">
              <a:lnSpc>
                <a:spcPct val="114000"/>
              </a:lnSpc>
            </a:pPr>
            <a:r>
              <a:rPr sz="1000">
                <a:solidFill>
                  <a:srgbClr val="5B6474"/>
                </a:solidFill>
                <a:latin typeface="Menlo"/>
              </a:rPr>
              <a:t>- Atomic units may contradict one another.</a:t>
            </a:r>
          </a:p>
          <a:p>
            <a:pPr algn="l">
              <a:lnSpc>
                <a:spcPct val="114000"/>
              </a:lnSpc>
            </a:pPr>
            <a:r>
              <a:rPr sz="1000">
                <a:solidFill>
                  <a:srgbClr val="5B6474"/>
                </a:solidFill>
                <a:latin typeface="Menlo"/>
              </a:rPr>
              <a:t>- The paragraph may contain information that</a:t>
            </a:r>
          </a:p>
          <a:p>
            <a:pPr algn="l">
              <a:lnSpc>
                <a:spcPct val="114000"/>
              </a:lnSpc>
            </a:pPr>
            <a:r>
              <a:rPr sz="1000">
                <a:solidFill>
                  <a:srgbClr val="1A1F2B"/>
                </a:solidFill>
                <a:latin typeface="Menlo"/>
              </a:rPr>
              <a:t>  is factually incorrect. Even in such cases</a:t>
            </a:r>
          </a:p>
          <a:p>
            <a:pPr algn="l">
              <a:lnSpc>
                <a:spcPct val="114000"/>
              </a:lnSpc>
            </a:pPr>
            <a:r>
              <a:rPr sz="1000">
                <a:solidFill>
                  <a:srgbClr val="1A1F2B"/>
                </a:solidFill>
                <a:latin typeface="Menlo"/>
              </a:rPr>
              <a:t>  you are not to alter any information.</a:t>
            </a:r>
          </a:p>
          <a:p>
            <a:pPr algn="l">
              <a:lnSpc>
                <a:spcPct val="114000"/>
              </a:lnSpc>
            </a:pPr>
            <a:r>
              <a:rPr sz="1000">
                <a:solidFill>
                  <a:srgbClr val="5B6474"/>
                </a:solidFill>
                <a:latin typeface="Menlo"/>
              </a:rPr>
              <a:t>- Each atomic unit is standalone: use actual</a:t>
            </a:r>
          </a:p>
          <a:p>
            <a:pPr algn="l">
              <a:lnSpc>
                <a:spcPct val="114000"/>
              </a:lnSpc>
            </a:pPr>
            <a:r>
              <a:rPr sz="1000">
                <a:solidFill>
                  <a:srgbClr val="1A1F2B"/>
                </a:solidFill>
                <a:latin typeface="Menlo"/>
              </a:rPr>
              <a:t>  nouns in place of pronouns or anaphors.</a:t>
            </a:r>
          </a:p>
          <a:p>
            <a:pPr algn="l">
              <a:lnSpc>
                <a:spcPct val="114000"/>
              </a:lnSpc>
            </a:pPr>
            <a:r>
              <a:rPr sz="1000">
                <a:solidFill>
                  <a:srgbClr val="5B6474"/>
                </a:solidFill>
                <a:latin typeface="Menlo"/>
              </a:rPr>
              <a:t>- The output must be a JSON dictionary with</a:t>
            </a:r>
          </a:p>
          <a:p>
            <a:pPr algn="l">
              <a:lnSpc>
                <a:spcPct val="114000"/>
              </a:lnSpc>
            </a:pPr>
            <a:r>
              <a:rPr sz="1000">
                <a:solidFill>
                  <a:srgbClr val="1A1F2B"/>
                </a:solidFill>
                <a:latin typeface="Menlo"/>
              </a:rPr>
              <a:t>  markdown code fences.</a:t>
            </a:r>
          </a:p>
          <a:p>
            <a:pPr algn="l">
              <a:lnSpc>
                <a:spcPct val="114000"/>
              </a:lnSpc>
            </a:pPr>
            <a:endParaRPr sz="1000">
              <a:solidFill>
                <a:srgbClr val="1A1F2B"/>
              </a:solidFill>
              <a:latin typeface="Menlo"/>
            </a:endParaRPr>
          </a:p>
          <a:p>
            <a:pPr algn="l">
              <a:lnSpc>
                <a:spcPct val="114000"/>
              </a:lnSpc>
            </a:pPr>
            <a:r>
              <a:rPr sz="1000">
                <a:solidFill>
                  <a:srgbClr val="1A1F2B"/>
                </a:solidFill>
                <a:latin typeface="Menlo"/>
              </a:rPr>
              <a:t>+ 2 few-shot examples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883664"/>
            <a:ext cx="41148" cy="3346704"/>
          </a:xfrm>
          <a:prstGeom prst="rect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364224" y="1627632"/>
            <a:ext cx="517550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5B6474"/>
                </a:solidFill>
                <a:latin typeface="Helvetica Neue"/>
              </a:rPr>
              <a:t>core/atomizer.py  —  the Mellea call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64224" y="1883664"/>
            <a:ext cx="5175504" cy="3877056"/>
          </a:xfrm>
          <a:prstGeom prst="roundRect">
            <a:avLst>
              <a:gd name="adj" fmla="val 3000"/>
            </a:avLst>
          </a:prstGeom>
          <a:solidFill>
            <a:srgbClr val="1E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28016" tIns="100584" rIns="128016" bIns="100584" rtlCol="0" anchor="t"/>
          <a:lstStyle/>
          <a:p>
            <a:pPr algn="l">
              <a:lnSpc>
                <a:spcPct val="116000"/>
              </a:lnSpc>
            </a:pPr>
            <a:r>
              <a:rPr sz="1050" dirty="0">
                <a:solidFill>
                  <a:srgbClr val="8BC5FF"/>
                </a:solidFill>
                <a:latin typeface="Menlo"/>
              </a:rPr>
              <a:t>import</a:t>
            </a:r>
            <a:r>
              <a:rPr sz="1050" dirty="0">
                <a:solidFill>
                  <a:srgbClr val="E6EAF2"/>
                </a:solidFill>
                <a:latin typeface="Menlo"/>
              </a:rPr>
              <a:t> </a:t>
            </a:r>
            <a:r>
              <a:rPr sz="1050" dirty="0" err="1">
                <a:solidFill>
                  <a:srgbClr val="E6EAF2"/>
                </a:solidFill>
                <a:latin typeface="Menlo"/>
              </a:rPr>
              <a:t>mellea.stdlib.functional</a:t>
            </a:r>
            <a:r>
              <a:rPr sz="1050" dirty="0">
                <a:solidFill>
                  <a:srgbClr val="E6EAF2"/>
                </a:solidFill>
                <a:latin typeface="Menlo"/>
              </a:rPr>
              <a:t> </a:t>
            </a:r>
            <a:r>
              <a:rPr sz="1050" dirty="0">
                <a:solidFill>
                  <a:srgbClr val="8BC5FF"/>
                </a:solidFill>
                <a:latin typeface="Menlo"/>
              </a:rPr>
              <a:t>as</a:t>
            </a:r>
            <a:r>
              <a:rPr sz="1050" dirty="0">
                <a:solidFill>
                  <a:srgbClr val="E6EAF2"/>
                </a:solidFill>
                <a:latin typeface="Menlo"/>
              </a:rPr>
              <a:t> </a:t>
            </a:r>
            <a:r>
              <a:rPr sz="1050" dirty="0" err="1">
                <a:solidFill>
                  <a:srgbClr val="E6EAF2"/>
                </a:solidFill>
                <a:latin typeface="Menlo"/>
              </a:rPr>
              <a:t>mfuncs</a:t>
            </a:r>
            <a:endParaRPr sz="1050" dirty="0">
              <a:solidFill>
                <a:srgbClr val="E6EAF2"/>
              </a:solidFill>
              <a:latin typeface="Menlo"/>
            </a:endParaRPr>
          </a:p>
          <a:p>
            <a:pPr algn="l">
              <a:lnSpc>
                <a:spcPct val="116000"/>
              </a:lnSpc>
            </a:pPr>
            <a:r>
              <a:rPr sz="1050" dirty="0">
                <a:solidFill>
                  <a:srgbClr val="8BC5FF"/>
                </a:solidFill>
                <a:latin typeface="Menlo"/>
              </a:rPr>
              <a:t>from</a:t>
            </a:r>
            <a:r>
              <a:rPr sz="1050" dirty="0">
                <a:solidFill>
                  <a:srgbClr val="E6EAF2"/>
                </a:solidFill>
                <a:latin typeface="Menlo"/>
              </a:rPr>
              <a:t> </a:t>
            </a:r>
            <a:r>
              <a:rPr sz="1050" dirty="0" err="1">
                <a:solidFill>
                  <a:srgbClr val="E6EAF2"/>
                </a:solidFill>
                <a:latin typeface="Menlo"/>
              </a:rPr>
              <a:t>mellea.stdlib.context</a:t>
            </a:r>
            <a:r>
              <a:rPr sz="1050" dirty="0">
                <a:solidFill>
                  <a:srgbClr val="E6EAF2"/>
                </a:solidFill>
                <a:latin typeface="Menlo"/>
              </a:rPr>
              <a:t> </a:t>
            </a:r>
            <a:r>
              <a:rPr sz="1050" dirty="0">
                <a:solidFill>
                  <a:srgbClr val="8BC5FF"/>
                </a:solidFill>
                <a:latin typeface="Menlo"/>
              </a:rPr>
              <a:t>import</a:t>
            </a:r>
            <a:r>
              <a:rPr sz="1050" dirty="0">
                <a:solidFill>
                  <a:srgbClr val="E6EAF2"/>
                </a:solidFill>
                <a:latin typeface="Menlo"/>
              </a:rPr>
              <a:t> </a:t>
            </a:r>
            <a:r>
              <a:rPr sz="1050" dirty="0" err="1">
                <a:solidFill>
                  <a:srgbClr val="E6EAF2"/>
                </a:solidFill>
                <a:latin typeface="Menlo"/>
              </a:rPr>
              <a:t>SimpleContext</a:t>
            </a:r>
            <a:endParaRPr sz="1050" dirty="0">
              <a:solidFill>
                <a:srgbClr val="E6EAF2"/>
              </a:solidFill>
              <a:latin typeface="Menlo"/>
            </a:endParaRPr>
          </a:p>
          <a:p>
            <a:pPr algn="l">
              <a:lnSpc>
                <a:spcPct val="116000"/>
              </a:lnSpc>
            </a:pPr>
            <a:r>
              <a:rPr sz="1050" dirty="0">
                <a:solidFill>
                  <a:srgbClr val="8BC5FF"/>
                </a:solidFill>
                <a:latin typeface="Menlo"/>
              </a:rPr>
              <a:t>from</a:t>
            </a:r>
            <a:r>
              <a:rPr sz="1050" dirty="0">
                <a:solidFill>
                  <a:srgbClr val="E6EAF2"/>
                </a:solidFill>
                <a:latin typeface="Menlo"/>
              </a:rPr>
              <a:t> </a:t>
            </a:r>
            <a:r>
              <a:rPr sz="1050" dirty="0" err="1">
                <a:solidFill>
                  <a:srgbClr val="E6EAF2"/>
                </a:solidFill>
                <a:latin typeface="Menlo"/>
              </a:rPr>
              <a:t>mellea.stdlib.requirements</a:t>
            </a:r>
            <a:r>
              <a:rPr sz="1050" dirty="0">
                <a:solidFill>
                  <a:srgbClr val="E6EAF2"/>
                </a:solidFill>
                <a:latin typeface="Menlo"/>
              </a:rPr>
              <a:t> </a:t>
            </a:r>
            <a:r>
              <a:rPr sz="1050" dirty="0">
                <a:solidFill>
                  <a:srgbClr val="8BC5FF"/>
                </a:solidFill>
                <a:latin typeface="Menlo"/>
              </a:rPr>
              <a:t>import</a:t>
            </a:r>
            <a:r>
              <a:rPr sz="1050" dirty="0">
                <a:solidFill>
                  <a:srgbClr val="E6EAF2"/>
                </a:solidFill>
                <a:latin typeface="Menlo"/>
              </a:rPr>
              <a:t> check, </a:t>
            </a:r>
            <a:r>
              <a:rPr sz="1050" dirty="0" err="1">
                <a:solidFill>
                  <a:srgbClr val="E6EAF2"/>
                </a:solidFill>
                <a:latin typeface="Menlo"/>
              </a:rPr>
              <a:t>simple_validate</a:t>
            </a:r>
            <a:endParaRPr sz="1050" dirty="0">
              <a:solidFill>
                <a:srgbClr val="E6EAF2"/>
              </a:solidFill>
              <a:latin typeface="Menlo"/>
            </a:endParaRPr>
          </a:p>
          <a:p>
            <a:pPr algn="l">
              <a:lnSpc>
                <a:spcPct val="116000"/>
              </a:lnSpc>
            </a:pPr>
            <a:r>
              <a:rPr sz="1050" dirty="0">
                <a:solidFill>
                  <a:srgbClr val="8BC5FF"/>
                </a:solidFill>
                <a:latin typeface="Menlo"/>
              </a:rPr>
              <a:t>from</a:t>
            </a:r>
            <a:r>
              <a:rPr sz="1050" dirty="0">
                <a:solidFill>
                  <a:srgbClr val="E6EAF2"/>
                </a:solidFill>
                <a:latin typeface="Menlo"/>
              </a:rPr>
              <a:t> </a:t>
            </a:r>
            <a:r>
              <a:rPr sz="1050" dirty="0" err="1">
                <a:solidFill>
                  <a:srgbClr val="E6EAF2"/>
                </a:solidFill>
                <a:latin typeface="Menlo"/>
              </a:rPr>
              <a:t>mellea.stdlib.sampling</a:t>
            </a:r>
            <a:r>
              <a:rPr sz="1050" dirty="0">
                <a:solidFill>
                  <a:srgbClr val="E6EAF2"/>
                </a:solidFill>
                <a:latin typeface="Menlo"/>
              </a:rPr>
              <a:t> </a:t>
            </a:r>
            <a:r>
              <a:rPr sz="1050" dirty="0">
                <a:solidFill>
                  <a:srgbClr val="8BC5FF"/>
                </a:solidFill>
                <a:latin typeface="Menlo"/>
              </a:rPr>
              <a:t>import</a:t>
            </a:r>
            <a:r>
              <a:rPr sz="1050" dirty="0">
                <a:solidFill>
                  <a:srgbClr val="E6EAF2"/>
                </a:solidFill>
                <a:latin typeface="Menlo"/>
              </a:rPr>
              <a:t> </a:t>
            </a:r>
            <a:r>
              <a:rPr sz="1050" dirty="0" err="1">
                <a:solidFill>
                  <a:srgbClr val="E6EAF2"/>
                </a:solidFill>
                <a:latin typeface="Menlo"/>
              </a:rPr>
              <a:t>RejectionSamplingStrategy</a:t>
            </a:r>
            <a:endParaRPr sz="1050" dirty="0">
              <a:solidFill>
                <a:srgbClr val="E6EAF2"/>
              </a:solidFill>
              <a:latin typeface="Menlo"/>
            </a:endParaRPr>
          </a:p>
          <a:p>
            <a:pPr algn="l">
              <a:lnSpc>
                <a:spcPct val="116000"/>
              </a:lnSpc>
            </a:pPr>
            <a:endParaRPr sz="1050" dirty="0">
              <a:solidFill>
                <a:srgbClr val="E6EAF2"/>
              </a:solidFill>
              <a:latin typeface="Menlo"/>
            </a:endParaRPr>
          </a:p>
          <a:p>
            <a:pPr algn="l">
              <a:lnSpc>
                <a:spcPct val="116000"/>
              </a:lnSpc>
            </a:pPr>
            <a:r>
              <a:rPr sz="1050" dirty="0">
                <a:solidFill>
                  <a:srgbClr val="E6EAF2"/>
                </a:solidFill>
                <a:latin typeface="Menlo"/>
              </a:rPr>
              <a:t>output = </a:t>
            </a:r>
            <a:r>
              <a:rPr sz="1050" dirty="0">
                <a:solidFill>
                  <a:srgbClr val="8BC5FF"/>
                </a:solidFill>
                <a:latin typeface="Menlo"/>
              </a:rPr>
              <a:t>await</a:t>
            </a:r>
            <a:r>
              <a:rPr sz="1050" dirty="0">
                <a:solidFill>
                  <a:srgbClr val="E6EAF2"/>
                </a:solidFill>
                <a:latin typeface="Menlo"/>
              </a:rPr>
              <a:t> </a:t>
            </a:r>
            <a:r>
              <a:rPr sz="1050" dirty="0" err="1">
                <a:solidFill>
                  <a:srgbClr val="E6EAF2"/>
                </a:solidFill>
                <a:latin typeface="Menlo"/>
              </a:rPr>
              <a:t>mfuncs.ainstruct</a:t>
            </a:r>
            <a:r>
              <a:rPr sz="1050" dirty="0">
                <a:solidFill>
                  <a:srgbClr val="E6EAF2"/>
                </a:solidFill>
                <a:latin typeface="Menlo"/>
              </a:rPr>
              <a:t>(</a:t>
            </a:r>
          </a:p>
          <a:p>
            <a:pPr algn="l">
              <a:lnSpc>
                <a:spcPct val="116000"/>
              </a:lnSpc>
            </a:pPr>
            <a:r>
              <a:rPr sz="1050" dirty="0">
                <a:solidFill>
                  <a:srgbClr val="E6EAF2"/>
                </a:solidFill>
                <a:latin typeface="Menlo"/>
              </a:rPr>
              <a:t>    INSTRUCTION_ATOMIZER,</a:t>
            </a:r>
          </a:p>
          <a:p>
            <a:pPr algn="l">
              <a:lnSpc>
                <a:spcPct val="116000"/>
              </a:lnSpc>
            </a:pPr>
            <a:r>
              <a:rPr sz="1050" dirty="0">
                <a:solidFill>
                  <a:srgbClr val="E6EAF2"/>
                </a:solidFill>
                <a:latin typeface="Menlo"/>
              </a:rPr>
              <a:t>    context=</a:t>
            </a:r>
            <a:r>
              <a:rPr sz="1050" dirty="0" err="1">
                <a:solidFill>
                  <a:srgbClr val="E6EAF2"/>
                </a:solidFill>
                <a:latin typeface="Menlo"/>
              </a:rPr>
              <a:t>SimpleContext</a:t>
            </a:r>
            <a:r>
              <a:rPr sz="1050" dirty="0">
                <a:solidFill>
                  <a:srgbClr val="E6EAF2"/>
                </a:solidFill>
                <a:latin typeface="Menlo"/>
              </a:rPr>
              <a:t>(),</a:t>
            </a:r>
          </a:p>
          <a:p>
            <a:pPr algn="l">
              <a:lnSpc>
                <a:spcPct val="116000"/>
              </a:lnSpc>
            </a:pPr>
            <a:r>
              <a:rPr sz="1050" dirty="0">
                <a:solidFill>
                  <a:srgbClr val="E6EAF2"/>
                </a:solidFill>
                <a:latin typeface="Menlo"/>
              </a:rPr>
              <a:t>    backend=</a:t>
            </a:r>
            <a:r>
              <a:rPr sz="1050" dirty="0" err="1">
                <a:solidFill>
                  <a:srgbClr val="E6EAF2"/>
                </a:solidFill>
                <a:latin typeface="Menlo"/>
              </a:rPr>
              <a:t>self.backend</a:t>
            </a:r>
            <a:r>
              <a:rPr sz="1050" dirty="0">
                <a:solidFill>
                  <a:srgbClr val="E6EAF2"/>
                </a:solidFill>
                <a:latin typeface="Menlo"/>
              </a:rPr>
              <a:t>,</a:t>
            </a:r>
          </a:p>
          <a:p>
            <a:pPr algn="l">
              <a:lnSpc>
                <a:spcPct val="116000"/>
              </a:lnSpc>
            </a:pPr>
            <a:r>
              <a:rPr sz="1050" dirty="0">
                <a:solidFill>
                  <a:srgbClr val="E6EAF2"/>
                </a:solidFill>
                <a:latin typeface="Menlo"/>
              </a:rPr>
              <a:t>    requirements=[</a:t>
            </a:r>
          </a:p>
          <a:p>
            <a:pPr algn="l">
              <a:lnSpc>
                <a:spcPct val="116000"/>
              </a:lnSpc>
            </a:pPr>
            <a:r>
              <a:rPr sz="1050" dirty="0">
                <a:solidFill>
                  <a:srgbClr val="E6EAF2"/>
                </a:solidFill>
                <a:latin typeface="Menlo"/>
              </a:rPr>
              <a:t>        check(</a:t>
            </a:r>
            <a:r>
              <a:rPr sz="1050" dirty="0">
                <a:solidFill>
                  <a:srgbClr val="A8E0A0"/>
                </a:solidFill>
                <a:latin typeface="Menlo"/>
              </a:rPr>
              <a:t>"The output must be valid JSON "</a:t>
            </a:r>
          </a:p>
          <a:p>
            <a:pPr algn="l">
              <a:lnSpc>
                <a:spcPct val="116000"/>
              </a:lnSpc>
            </a:pPr>
            <a:r>
              <a:rPr sz="1050" dirty="0">
                <a:solidFill>
                  <a:srgbClr val="E6EAF2"/>
                </a:solidFill>
                <a:latin typeface="Menlo"/>
              </a:rPr>
              <a:t>              </a:t>
            </a:r>
            <a:r>
              <a:rPr sz="1050" dirty="0">
                <a:solidFill>
                  <a:srgbClr val="A8E0A0"/>
                </a:solidFill>
                <a:latin typeface="Menlo"/>
              </a:rPr>
              <a:t>"with markdown code fences"</a:t>
            </a:r>
            <a:r>
              <a:rPr sz="1050" dirty="0">
                <a:solidFill>
                  <a:srgbClr val="E6EAF2"/>
                </a:solidFill>
                <a:latin typeface="Menlo"/>
              </a:rPr>
              <a:t>,</a:t>
            </a:r>
          </a:p>
          <a:p>
            <a:pPr algn="l">
              <a:lnSpc>
                <a:spcPct val="116000"/>
              </a:lnSpc>
            </a:pPr>
            <a:r>
              <a:rPr sz="1050" dirty="0">
                <a:solidFill>
                  <a:srgbClr val="E6EAF2"/>
                </a:solidFill>
                <a:latin typeface="Menlo"/>
              </a:rPr>
              <a:t>              </a:t>
            </a:r>
            <a:r>
              <a:rPr sz="1050" dirty="0" err="1">
                <a:solidFill>
                  <a:srgbClr val="E6EAF2"/>
                </a:solidFill>
                <a:latin typeface="Menlo"/>
              </a:rPr>
              <a:t>validation_fn</a:t>
            </a:r>
            <a:r>
              <a:rPr sz="1050" dirty="0">
                <a:solidFill>
                  <a:srgbClr val="E6EAF2"/>
                </a:solidFill>
                <a:latin typeface="Menlo"/>
              </a:rPr>
              <a:t>=</a:t>
            </a:r>
            <a:r>
              <a:rPr sz="1050" dirty="0" err="1">
                <a:solidFill>
                  <a:srgbClr val="E6EAF2"/>
                </a:solidFill>
                <a:latin typeface="Menlo"/>
              </a:rPr>
              <a:t>simple_validate</a:t>
            </a:r>
            <a:r>
              <a:rPr sz="1050" dirty="0">
                <a:solidFill>
                  <a:srgbClr val="E6EAF2"/>
                </a:solidFill>
                <a:latin typeface="Menlo"/>
              </a:rPr>
              <a:t>(</a:t>
            </a:r>
          </a:p>
          <a:p>
            <a:pPr algn="l">
              <a:lnSpc>
                <a:spcPct val="116000"/>
              </a:lnSpc>
            </a:pPr>
            <a:r>
              <a:rPr sz="1050" dirty="0">
                <a:solidFill>
                  <a:srgbClr val="E6EAF2"/>
                </a:solidFill>
                <a:latin typeface="Menlo"/>
              </a:rPr>
              <a:t>                  </a:t>
            </a:r>
            <a:r>
              <a:rPr sz="1050" dirty="0" err="1">
                <a:solidFill>
                  <a:srgbClr val="E6EAF2"/>
                </a:solidFill>
                <a:latin typeface="Menlo"/>
              </a:rPr>
              <a:t>validate_json_code_block</a:t>
            </a:r>
            <a:r>
              <a:rPr sz="1050" dirty="0">
                <a:solidFill>
                  <a:srgbClr val="E6EAF2"/>
                </a:solidFill>
                <a:latin typeface="Menlo"/>
              </a:rPr>
              <a:t>)),</a:t>
            </a:r>
          </a:p>
          <a:p>
            <a:pPr algn="l">
              <a:lnSpc>
                <a:spcPct val="116000"/>
              </a:lnSpc>
            </a:pPr>
            <a:r>
              <a:rPr sz="1050" dirty="0">
                <a:solidFill>
                  <a:srgbClr val="E6EAF2"/>
                </a:solidFill>
                <a:latin typeface="Menlo"/>
              </a:rPr>
              <a:t>    ],</a:t>
            </a:r>
          </a:p>
          <a:p>
            <a:pPr algn="l">
              <a:lnSpc>
                <a:spcPct val="116000"/>
              </a:lnSpc>
            </a:pPr>
            <a:r>
              <a:rPr sz="1050" dirty="0">
                <a:solidFill>
                  <a:srgbClr val="E6EAF2"/>
                </a:solidFill>
                <a:latin typeface="Menlo"/>
              </a:rPr>
              <a:t>    </a:t>
            </a:r>
            <a:r>
              <a:rPr sz="1050" dirty="0" err="1">
                <a:solidFill>
                  <a:srgbClr val="E6EAF2"/>
                </a:solidFill>
                <a:latin typeface="Menlo"/>
              </a:rPr>
              <a:t>user_variables</a:t>
            </a:r>
            <a:r>
              <a:rPr sz="1050" dirty="0">
                <a:solidFill>
                  <a:srgbClr val="E6EAF2"/>
                </a:solidFill>
                <a:latin typeface="Menlo"/>
              </a:rPr>
              <a:t>={</a:t>
            </a:r>
            <a:r>
              <a:rPr sz="1050" dirty="0">
                <a:solidFill>
                  <a:srgbClr val="A8E0A0"/>
                </a:solidFill>
                <a:latin typeface="Menlo"/>
              </a:rPr>
              <a:t>"response"</a:t>
            </a:r>
            <a:r>
              <a:rPr sz="1050" dirty="0">
                <a:solidFill>
                  <a:srgbClr val="E6EAF2"/>
                </a:solidFill>
                <a:latin typeface="Menlo"/>
              </a:rPr>
              <a:t>: response},</a:t>
            </a:r>
          </a:p>
          <a:p>
            <a:pPr algn="l">
              <a:lnSpc>
                <a:spcPct val="116000"/>
              </a:lnSpc>
            </a:pPr>
            <a:r>
              <a:rPr sz="1050" dirty="0">
                <a:solidFill>
                  <a:srgbClr val="E6EAF2"/>
                </a:solidFill>
                <a:latin typeface="Menlo"/>
              </a:rPr>
              <a:t>    strategy=</a:t>
            </a:r>
            <a:r>
              <a:rPr sz="1050" dirty="0" err="1">
                <a:solidFill>
                  <a:srgbClr val="E6EAF2"/>
                </a:solidFill>
                <a:latin typeface="Menlo"/>
              </a:rPr>
              <a:t>RejectionSamplingStrategy</a:t>
            </a:r>
            <a:r>
              <a:rPr sz="1050" dirty="0">
                <a:solidFill>
                  <a:srgbClr val="E6EAF2"/>
                </a:solidFill>
                <a:latin typeface="Menlo"/>
              </a:rPr>
              <a:t>(</a:t>
            </a:r>
          </a:p>
          <a:p>
            <a:pPr algn="l">
              <a:lnSpc>
                <a:spcPct val="116000"/>
              </a:lnSpc>
            </a:pPr>
            <a:r>
              <a:rPr sz="1050" dirty="0">
                <a:solidFill>
                  <a:srgbClr val="E6EAF2"/>
                </a:solidFill>
                <a:latin typeface="Menlo"/>
              </a:rPr>
              <a:t>        </a:t>
            </a:r>
            <a:r>
              <a:rPr sz="1050" dirty="0" err="1">
                <a:solidFill>
                  <a:srgbClr val="E6EAF2"/>
                </a:solidFill>
                <a:latin typeface="Menlo"/>
              </a:rPr>
              <a:t>loop_budget</a:t>
            </a:r>
            <a:r>
              <a:rPr sz="1050" dirty="0">
                <a:solidFill>
                  <a:srgbClr val="E6EAF2"/>
                </a:solidFill>
                <a:latin typeface="Menlo"/>
              </a:rPr>
              <a:t>=LOOP_BUDGET),</a:t>
            </a:r>
          </a:p>
          <a:p>
            <a:pPr algn="l">
              <a:lnSpc>
                <a:spcPct val="116000"/>
              </a:lnSpc>
            </a:pPr>
            <a:r>
              <a:rPr sz="1050" dirty="0">
                <a:solidFill>
                  <a:srgbClr val="E6EAF2"/>
                </a:solidFill>
                <a:latin typeface="Menlo"/>
              </a:rPr>
              <a:t>    </a:t>
            </a:r>
            <a:r>
              <a:rPr sz="1050" dirty="0" err="1">
                <a:solidFill>
                  <a:srgbClr val="E6EAF2"/>
                </a:solidFill>
                <a:latin typeface="Menlo"/>
              </a:rPr>
              <a:t>return_sampling_results</a:t>
            </a:r>
            <a:r>
              <a:rPr sz="1050" dirty="0">
                <a:solidFill>
                  <a:srgbClr val="E6EAF2"/>
                </a:solidFill>
                <a:latin typeface="Menlo"/>
              </a:rPr>
              <a:t>=</a:t>
            </a:r>
            <a:r>
              <a:rPr sz="1050" dirty="0">
                <a:solidFill>
                  <a:srgbClr val="8BC5FF"/>
                </a:solidFill>
                <a:latin typeface="Menlo"/>
              </a:rPr>
              <a:t>True</a:t>
            </a:r>
            <a:r>
              <a:rPr sz="1050" dirty="0">
                <a:solidFill>
                  <a:srgbClr val="E6EAF2"/>
                </a:solidFill>
                <a:latin typeface="Menlo"/>
              </a:rPr>
              <a:t>,</a:t>
            </a:r>
          </a:p>
          <a:p>
            <a:pPr algn="l">
              <a:lnSpc>
                <a:spcPct val="116000"/>
              </a:lnSpc>
            </a:pPr>
            <a:r>
              <a:rPr sz="1050" dirty="0">
                <a:solidFill>
                  <a:srgbClr val="E6EAF2"/>
                </a:solidFill>
                <a:latin typeface="Menlo"/>
              </a:rPr>
              <a:t>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5760720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5B6474"/>
                </a:solidFill>
                <a:latin typeface="Helvetica Neue"/>
              </a:rPr>
              <a:t>requirements + RejectionSamplingStrategy = Mellea retries the generation until the output validates, up to loop_budget.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6419088"/>
            <a:ext cx="5486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9AA3B0"/>
                </a:solidFill>
                <a:latin typeface="Helvetica Neue"/>
              </a:rPr>
              <a:t>FactReasoner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419088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AA3B0"/>
                </a:solidFill>
                <a:latin typeface="Helvetica Neue"/>
              </a:rPr>
              <a:t>5 / 21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384048"/>
            <a:ext cx="108813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2D6CDF"/>
                </a:solidFill>
                <a:latin typeface="Helvetica Neue"/>
              </a:rPr>
              <a:t>COMPONENT 2 OF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0080"/>
            <a:ext cx="1088136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100" b="1" i="0">
                <a:solidFill>
                  <a:srgbClr val="1A1F2B"/>
                </a:solidFill>
                <a:latin typeface="Helvetica Neue"/>
              </a:rPr>
              <a:t>Reviser — make each claim standalone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88720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0" i="0">
                <a:solidFill>
                  <a:srgbClr val="5B6474"/>
                </a:solidFill>
                <a:latin typeface="Helvetica Neue"/>
              </a:rPr>
              <a:t>A claim that still says “he” cannot be verified on its own. This resolves the references.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636776"/>
            <a:ext cx="541324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B4BC4"/>
                </a:solidFill>
                <a:latin typeface="Helvetica Neue"/>
              </a:rPr>
              <a:t>INSTRUCTION_REVISER  (abridged)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883664"/>
            <a:ext cx="5413248" cy="3346704"/>
          </a:xfrm>
          <a:prstGeom prst="roundRect">
            <a:avLst>
              <a:gd name="adj" fmla="val 3000"/>
            </a:avLst>
          </a:prstGeom>
          <a:solidFill>
            <a:srgbClr val="FAFBFD"/>
          </a:solidFill>
          <a:ln w="12700">
            <a:solidFill>
              <a:srgbClr val="DD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91440" rIns="109728" bIns="73152" rtlCol="0" anchor="t"/>
          <a:lstStyle/>
          <a:p>
            <a:pPr algn="l">
              <a:lnSpc>
                <a:spcPct val="114000"/>
              </a:lnSpc>
            </a:pPr>
            <a:r>
              <a:rPr sz="1000">
                <a:solidFill>
                  <a:srgbClr val="1A1F2B"/>
                </a:solidFill>
                <a:latin typeface="Menlo"/>
              </a:rPr>
              <a:t>Your task is to decontextualize a UNIT to</a:t>
            </a:r>
          </a:p>
          <a:p>
            <a:pPr algn="l">
              <a:lnSpc>
                <a:spcPct val="114000"/>
              </a:lnSpc>
            </a:pPr>
            <a:r>
              <a:rPr sz="1000">
                <a:solidFill>
                  <a:srgbClr val="1A1F2B"/>
                </a:solidFill>
                <a:latin typeface="Menlo"/>
              </a:rPr>
              <a:t>make it standalone.</a:t>
            </a:r>
          </a:p>
          <a:p>
            <a:pPr algn="l">
              <a:lnSpc>
                <a:spcPct val="114000"/>
              </a:lnSpc>
            </a:pPr>
            <a:endParaRPr sz="1000">
              <a:solidFill>
                <a:srgbClr val="1A1F2B"/>
              </a:solidFill>
              <a:latin typeface="Menlo"/>
            </a:endParaRPr>
          </a:p>
          <a:p>
            <a:pPr algn="l">
              <a:lnSpc>
                <a:spcPct val="114000"/>
              </a:lnSpc>
            </a:pPr>
            <a:r>
              <a:rPr sz="1000">
                <a:solidFill>
                  <a:srgbClr val="1A1F2B"/>
                </a:solidFill>
                <a:latin typeface="Menlo"/>
              </a:rPr>
              <a:t>Vague references:</a:t>
            </a:r>
          </a:p>
          <a:p>
            <a:pPr algn="l">
              <a:lnSpc>
                <a:spcPct val="114000"/>
              </a:lnSpc>
            </a:pPr>
            <a:r>
              <a:rPr sz="1000">
                <a:solidFill>
                  <a:srgbClr val="5B6474"/>
                </a:solidFill>
                <a:latin typeface="Menlo"/>
              </a:rPr>
              <a:t>- Pronouns ("he", "she", "they", "it")</a:t>
            </a:r>
          </a:p>
          <a:p>
            <a:pPr algn="l">
              <a:lnSpc>
                <a:spcPct val="114000"/>
              </a:lnSpc>
            </a:pPr>
            <a:r>
              <a:rPr sz="1000">
                <a:solidFill>
                  <a:srgbClr val="5B6474"/>
                </a:solidFill>
                <a:latin typeface="Menlo"/>
              </a:rPr>
              <a:t>- Demonstratives ("this", "that", "those")</a:t>
            </a:r>
          </a:p>
          <a:p>
            <a:pPr algn="l">
              <a:lnSpc>
                <a:spcPct val="114000"/>
              </a:lnSpc>
            </a:pPr>
            <a:r>
              <a:rPr sz="1000">
                <a:solidFill>
                  <a:srgbClr val="5B6474"/>
                </a:solidFill>
                <a:latin typeface="Menlo"/>
              </a:rPr>
              <a:t>- Unknown entities ("the event", "the research")</a:t>
            </a:r>
          </a:p>
          <a:p>
            <a:pPr algn="l">
              <a:lnSpc>
                <a:spcPct val="114000"/>
              </a:lnSpc>
            </a:pPr>
            <a:r>
              <a:rPr sz="1000">
                <a:solidFill>
                  <a:srgbClr val="5B6474"/>
                </a:solidFill>
                <a:latin typeface="Menlo"/>
              </a:rPr>
              <a:t>- Incomplete names ("Bezos..." for Jeff Bezos)</a:t>
            </a:r>
          </a:p>
          <a:p>
            <a:pPr algn="l">
              <a:lnSpc>
                <a:spcPct val="114000"/>
              </a:lnSpc>
            </a:pPr>
            <a:endParaRPr sz="1000">
              <a:solidFill>
                <a:srgbClr val="5B6474"/>
              </a:solidFill>
              <a:latin typeface="Menlo"/>
            </a:endParaRPr>
          </a:p>
          <a:p>
            <a:pPr algn="l">
              <a:lnSpc>
                <a:spcPct val="114000"/>
              </a:lnSpc>
            </a:pPr>
            <a:r>
              <a:rPr sz="1000">
                <a:solidFill>
                  <a:srgbClr val="1A1F2B"/>
                </a:solidFill>
                <a:latin typeface="Menlo"/>
              </a:rPr>
              <a:t>Steps:</a:t>
            </a:r>
          </a:p>
          <a:p>
            <a:pPr algn="l">
              <a:lnSpc>
                <a:spcPct val="114000"/>
              </a:lnSpc>
            </a:pPr>
            <a:r>
              <a:rPr sz="1000">
                <a:solidFill>
                  <a:srgbClr val="1A1F2B"/>
                </a:solidFill>
                <a:latin typeface="Menlo"/>
              </a:rPr>
              <a:t>1. Minimally revise vague references to the</a:t>
            </a:r>
          </a:p>
          <a:p>
            <a:pPr algn="l">
              <a:lnSpc>
                <a:spcPct val="114000"/>
              </a:lnSpc>
            </a:pPr>
            <a:r>
              <a:rPr sz="1000">
                <a:solidFill>
                  <a:srgbClr val="1A1F2B"/>
                </a:solidFill>
                <a:latin typeface="Menlo"/>
              </a:rPr>
              <a:t>   subjects they refer to in the RESPONSE.</a:t>
            </a:r>
          </a:p>
          <a:p>
            <a:pPr algn="l">
              <a:lnSpc>
                <a:spcPct val="114000"/>
              </a:lnSpc>
            </a:pPr>
            <a:r>
              <a:rPr sz="1000">
                <a:solidFill>
                  <a:srgbClr val="1A1F2B"/>
                </a:solidFill>
                <a:latin typeface="Menlo"/>
              </a:rPr>
              <a:t>2. ONLY resolve vague references. No</a:t>
            </a:r>
          </a:p>
          <a:p>
            <a:pPr algn="l">
              <a:lnSpc>
                <a:spcPct val="114000"/>
              </a:lnSpc>
            </a:pPr>
            <a:r>
              <a:rPr sz="1000">
                <a:solidFill>
                  <a:srgbClr val="1A1F2B"/>
                </a:solidFill>
                <a:latin typeface="Menlo"/>
              </a:rPr>
              <a:t>   additional information must be added.</a:t>
            </a:r>
          </a:p>
          <a:p>
            <a:pPr algn="l">
              <a:lnSpc>
                <a:spcPct val="114000"/>
              </a:lnSpc>
            </a:pPr>
            <a:r>
              <a:rPr sz="1000">
                <a:solidFill>
                  <a:srgbClr val="1A1F2B"/>
                </a:solidFill>
                <a:latin typeface="Menlo"/>
              </a:rPr>
              <a:t>3. Provide a reasoning of the revisions.</a:t>
            </a:r>
          </a:p>
          <a:p>
            <a:pPr algn="l">
              <a:lnSpc>
                <a:spcPct val="114000"/>
              </a:lnSpc>
            </a:pPr>
            <a:r>
              <a:rPr sz="1000">
                <a:solidFill>
                  <a:srgbClr val="1A1F2B"/>
                </a:solidFill>
                <a:latin typeface="Menlo"/>
              </a:rPr>
              <a:t>4. Output JSON: revised_unit + rationale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883664"/>
            <a:ext cx="41148" cy="3346704"/>
          </a:xfrm>
          <a:prstGeom prst="rect">
            <a:avLst/>
          </a:prstGeom>
          <a:solidFill>
            <a:srgbClr val="5B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364224" y="1627632"/>
            <a:ext cx="517550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5B6474"/>
                </a:solidFill>
                <a:latin typeface="Helvetica Neue"/>
              </a:rPr>
              <a:t>core/reviser.py  —  the Mellea call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64224" y="1883664"/>
            <a:ext cx="5175504" cy="3877056"/>
          </a:xfrm>
          <a:prstGeom prst="roundRect">
            <a:avLst>
              <a:gd name="adj" fmla="val 3000"/>
            </a:avLst>
          </a:prstGeom>
          <a:solidFill>
            <a:srgbClr val="1E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28016" tIns="100584" rIns="128016" bIns="100584" rtlCol="0" anchor="t"/>
          <a:lstStyle/>
          <a:p>
            <a:pPr algn="l">
              <a:lnSpc>
                <a:spcPct val="116000"/>
              </a:lnSpc>
            </a:pPr>
            <a:r>
              <a:rPr sz="1050" dirty="0">
                <a:solidFill>
                  <a:srgbClr val="E6EAF2"/>
                </a:solidFill>
                <a:latin typeface="Menlo"/>
              </a:rPr>
              <a:t>output = </a:t>
            </a:r>
            <a:r>
              <a:rPr sz="1050" dirty="0">
                <a:solidFill>
                  <a:srgbClr val="8BC5FF"/>
                </a:solidFill>
                <a:latin typeface="Menlo"/>
              </a:rPr>
              <a:t>await</a:t>
            </a:r>
            <a:r>
              <a:rPr sz="1050" dirty="0">
                <a:solidFill>
                  <a:srgbClr val="E6EAF2"/>
                </a:solidFill>
                <a:latin typeface="Menlo"/>
              </a:rPr>
              <a:t> </a:t>
            </a:r>
            <a:r>
              <a:rPr sz="1050" dirty="0" err="1">
                <a:solidFill>
                  <a:srgbClr val="E6EAF2"/>
                </a:solidFill>
                <a:latin typeface="Menlo"/>
              </a:rPr>
              <a:t>mfuncs.ainstruct</a:t>
            </a:r>
            <a:r>
              <a:rPr sz="1050" dirty="0">
                <a:solidFill>
                  <a:srgbClr val="E6EAF2"/>
                </a:solidFill>
                <a:latin typeface="Menlo"/>
              </a:rPr>
              <a:t>(</a:t>
            </a:r>
          </a:p>
          <a:p>
            <a:pPr algn="l">
              <a:lnSpc>
                <a:spcPct val="116000"/>
              </a:lnSpc>
            </a:pPr>
            <a:r>
              <a:rPr sz="1050" dirty="0">
                <a:solidFill>
                  <a:srgbClr val="E6EAF2"/>
                </a:solidFill>
                <a:latin typeface="Menlo"/>
              </a:rPr>
              <a:t>    INSTRUCTION_REVISER,</a:t>
            </a:r>
          </a:p>
          <a:p>
            <a:pPr algn="l">
              <a:lnSpc>
                <a:spcPct val="116000"/>
              </a:lnSpc>
            </a:pPr>
            <a:r>
              <a:rPr sz="1050" dirty="0">
                <a:solidFill>
                  <a:srgbClr val="E6EAF2"/>
                </a:solidFill>
                <a:latin typeface="Menlo"/>
              </a:rPr>
              <a:t>    context=</a:t>
            </a:r>
            <a:r>
              <a:rPr sz="1050" dirty="0" err="1">
                <a:solidFill>
                  <a:srgbClr val="E6EAF2"/>
                </a:solidFill>
                <a:latin typeface="Menlo"/>
              </a:rPr>
              <a:t>SimpleContext</a:t>
            </a:r>
            <a:r>
              <a:rPr sz="1050" dirty="0">
                <a:solidFill>
                  <a:srgbClr val="E6EAF2"/>
                </a:solidFill>
                <a:latin typeface="Menlo"/>
              </a:rPr>
              <a:t>(),</a:t>
            </a:r>
          </a:p>
          <a:p>
            <a:pPr algn="l">
              <a:lnSpc>
                <a:spcPct val="116000"/>
              </a:lnSpc>
            </a:pPr>
            <a:r>
              <a:rPr sz="1050" dirty="0">
                <a:solidFill>
                  <a:srgbClr val="E6EAF2"/>
                </a:solidFill>
                <a:latin typeface="Menlo"/>
              </a:rPr>
              <a:t>    backend=</a:t>
            </a:r>
            <a:r>
              <a:rPr sz="1050" dirty="0" err="1">
                <a:solidFill>
                  <a:srgbClr val="E6EAF2"/>
                </a:solidFill>
                <a:latin typeface="Menlo"/>
              </a:rPr>
              <a:t>self.backend</a:t>
            </a:r>
            <a:r>
              <a:rPr sz="1050" dirty="0">
                <a:solidFill>
                  <a:srgbClr val="E6EAF2"/>
                </a:solidFill>
                <a:latin typeface="Menlo"/>
              </a:rPr>
              <a:t>,</a:t>
            </a:r>
          </a:p>
          <a:p>
            <a:pPr algn="l">
              <a:lnSpc>
                <a:spcPct val="116000"/>
              </a:lnSpc>
            </a:pPr>
            <a:r>
              <a:rPr sz="1050" dirty="0">
                <a:solidFill>
                  <a:srgbClr val="E6EAF2"/>
                </a:solidFill>
                <a:latin typeface="Menlo"/>
              </a:rPr>
              <a:t>    requirements=[</a:t>
            </a:r>
          </a:p>
          <a:p>
            <a:pPr algn="l">
              <a:lnSpc>
                <a:spcPct val="116000"/>
              </a:lnSpc>
            </a:pPr>
            <a:r>
              <a:rPr sz="1050" dirty="0">
                <a:solidFill>
                  <a:srgbClr val="E6EAF2"/>
                </a:solidFill>
                <a:latin typeface="Menlo"/>
              </a:rPr>
              <a:t>        check(</a:t>
            </a:r>
            <a:r>
              <a:rPr sz="1050" dirty="0">
                <a:solidFill>
                  <a:srgbClr val="A8E0A0"/>
                </a:solidFill>
                <a:latin typeface="Menlo"/>
              </a:rPr>
              <a:t>"The output must be a valid JSON "</a:t>
            </a:r>
          </a:p>
          <a:p>
            <a:pPr algn="l">
              <a:lnSpc>
                <a:spcPct val="116000"/>
              </a:lnSpc>
            </a:pPr>
            <a:r>
              <a:rPr sz="1050" dirty="0">
                <a:solidFill>
                  <a:srgbClr val="E6EAF2"/>
                </a:solidFill>
                <a:latin typeface="Menlo"/>
              </a:rPr>
              <a:t>              </a:t>
            </a:r>
            <a:r>
              <a:rPr sz="1050" dirty="0">
                <a:solidFill>
                  <a:srgbClr val="A8E0A0"/>
                </a:solidFill>
                <a:latin typeface="Menlo"/>
              </a:rPr>
              <a:t>"code block."</a:t>
            </a:r>
            <a:r>
              <a:rPr sz="1050" dirty="0">
                <a:solidFill>
                  <a:srgbClr val="E6EAF2"/>
                </a:solidFill>
                <a:latin typeface="Menlo"/>
              </a:rPr>
              <a:t>,</a:t>
            </a:r>
          </a:p>
          <a:p>
            <a:pPr algn="l">
              <a:lnSpc>
                <a:spcPct val="116000"/>
              </a:lnSpc>
            </a:pPr>
            <a:r>
              <a:rPr sz="1050" dirty="0">
                <a:solidFill>
                  <a:srgbClr val="E6EAF2"/>
                </a:solidFill>
                <a:latin typeface="Menlo"/>
              </a:rPr>
              <a:t>              </a:t>
            </a:r>
            <a:r>
              <a:rPr sz="1050" dirty="0" err="1">
                <a:solidFill>
                  <a:srgbClr val="E6EAF2"/>
                </a:solidFill>
                <a:latin typeface="Menlo"/>
              </a:rPr>
              <a:t>validation_fn</a:t>
            </a:r>
            <a:r>
              <a:rPr sz="1050" dirty="0">
                <a:solidFill>
                  <a:srgbClr val="E6EAF2"/>
                </a:solidFill>
                <a:latin typeface="Menlo"/>
              </a:rPr>
              <a:t>=</a:t>
            </a:r>
            <a:r>
              <a:rPr sz="1050" dirty="0" err="1">
                <a:solidFill>
                  <a:srgbClr val="E6EAF2"/>
                </a:solidFill>
                <a:latin typeface="Menlo"/>
              </a:rPr>
              <a:t>simple_validate</a:t>
            </a:r>
            <a:r>
              <a:rPr sz="1050" dirty="0">
                <a:solidFill>
                  <a:srgbClr val="E6EAF2"/>
                </a:solidFill>
                <a:latin typeface="Menlo"/>
              </a:rPr>
              <a:t>(</a:t>
            </a:r>
          </a:p>
          <a:p>
            <a:pPr algn="l">
              <a:lnSpc>
                <a:spcPct val="116000"/>
              </a:lnSpc>
            </a:pPr>
            <a:r>
              <a:rPr sz="1050" dirty="0">
                <a:solidFill>
                  <a:srgbClr val="E6EAF2"/>
                </a:solidFill>
                <a:latin typeface="Menlo"/>
              </a:rPr>
              <a:t>                  lambda s: </a:t>
            </a:r>
            <a:r>
              <a:rPr sz="1050" dirty="0" err="1">
                <a:solidFill>
                  <a:srgbClr val="E6EAF2"/>
                </a:solidFill>
                <a:latin typeface="Menlo"/>
              </a:rPr>
              <a:t>validate_json_code_block</a:t>
            </a:r>
            <a:r>
              <a:rPr sz="1050" dirty="0">
                <a:solidFill>
                  <a:srgbClr val="E6EAF2"/>
                </a:solidFill>
                <a:latin typeface="Menlo"/>
              </a:rPr>
              <a:t>(</a:t>
            </a:r>
          </a:p>
          <a:p>
            <a:pPr algn="l">
              <a:lnSpc>
                <a:spcPct val="116000"/>
              </a:lnSpc>
            </a:pPr>
            <a:r>
              <a:rPr sz="1050" dirty="0">
                <a:solidFill>
                  <a:srgbClr val="E6EAF2"/>
                </a:solidFill>
                <a:latin typeface="Menlo"/>
              </a:rPr>
              <a:t>                      s, </a:t>
            </a:r>
            <a:r>
              <a:rPr sz="1050" dirty="0" err="1">
                <a:solidFill>
                  <a:srgbClr val="E6EAF2"/>
                </a:solidFill>
                <a:latin typeface="Menlo"/>
              </a:rPr>
              <a:t>required_keys</a:t>
            </a:r>
            <a:r>
              <a:rPr sz="1050" dirty="0">
                <a:solidFill>
                  <a:srgbClr val="E6EAF2"/>
                </a:solidFill>
                <a:latin typeface="Menlo"/>
              </a:rPr>
              <a:t>=[</a:t>
            </a:r>
          </a:p>
          <a:p>
            <a:pPr algn="l">
              <a:lnSpc>
                <a:spcPct val="116000"/>
              </a:lnSpc>
            </a:pPr>
            <a:r>
              <a:rPr sz="1050" dirty="0">
                <a:solidFill>
                  <a:srgbClr val="E6EAF2"/>
                </a:solidFill>
                <a:latin typeface="Menlo"/>
              </a:rPr>
              <a:t>                          </a:t>
            </a:r>
            <a:r>
              <a:rPr sz="1050" dirty="0">
                <a:solidFill>
                  <a:srgbClr val="A8E0A0"/>
                </a:solidFill>
                <a:latin typeface="Menlo"/>
              </a:rPr>
              <a:t>"</a:t>
            </a:r>
            <a:r>
              <a:rPr sz="1050" dirty="0" err="1">
                <a:solidFill>
                  <a:srgbClr val="A8E0A0"/>
                </a:solidFill>
                <a:latin typeface="Menlo"/>
              </a:rPr>
              <a:t>revised_unit</a:t>
            </a:r>
            <a:r>
              <a:rPr sz="1050" dirty="0">
                <a:solidFill>
                  <a:srgbClr val="A8E0A0"/>
                </a:solidFill>
                <a:latin typeface="Menlo"/>
              </a:rPr>
              <a:t>"</a:t>
            </a:r>
            <a:r>
              <a:rPr sz="1050" dirty="0">
                <a:solidFill>
                  <a:srgbClr val="E6EAF2"/>
                </a:solidFill>
                <a:latin typeface="Menlo"/>
              </a:rPr>
              <a:t>, </a:t>
            </a:r>
            <a:r>
              <a:rPr sz="1050" dirty="0">
                <a:solidFill>
                  <a:srgbClr val="A8E0A0"/>
                </a:solidFill>
                <a:latin typeface="Menlo"/>
              </a:rPr>
              <a:t>"rationale"</a:t>
            </a:r>
            <a:r>
              <a:rPr sz="1050" dirty="0">
                <a:solidFill>
                  <a:srgbClr val="E6EAF2"/>
                </a:solidFill>
                <a:latin typeface="Menlo"/>
              </a:rPr>
              <a:t>]))),</a:t>
            </a:r>
          </a:p>
          <a:p>
            <a:pPr algn="l">
              <a:lnSpc>
                <a:spcPct val="116000"/>
              </a:lnSpc>
            </a:pPr>
            <a:r>
              <a:rPr sz="1050" dirty="0">
                <a:solidFill>
                  <a:srgbClr val="E6EAF2"/>
                </a:solidFill>
                <a:latin typeface="Menlo"/>
              </a:rPr>
              <a:t>    ],</a:t>
            </a:r>
          </a:p>
          <a:p>
            <a:pPr algn="l">
              <a:lnSpc>
                <a:spcPct val="116000"/>
              </a:lnSpc>
            </a:pPr>
            <a:r>
              <a:rPr sz="1050" dirty="0">
                <a:solidFill>
                  <a:srgbClr val="E6EAF2"/>
                </a:solidFill>
                <a:latin typeface="Menlo"/>
              </a:rPr>
              <a:t>    </a:t>
            </a:r>
            <a:r>
              <a:rPr sz="1050" dirty="0" err="1">
                <a:solidFill>
                  <a:srgbClr val="E6EAF2"/>
                </a:solidFill>
                <a:latin typeface="Menlo"/>
              </a:rPr>
              <a:t>user_variables</a:t>
            </a:r>
            <a:r>
              <a:rPr sz="1050" dirty="0">
                <a:solidFill>
                  <a:srgbClr val="E6EAF2"/>
                </a:solidFill>
                <a:latin typeface="Menlo"/>
              </a:rPr>
              <a:t>={</a:t>
            </a:r>
          </a:p>
          <a:p>
            <a:pPr algn="l">
              <a:lnSpc>
                <a:spcPct val="116000"/>
              </a:lnSpc>
            </a:pPr>
            <a:r>
              <a:rPr sz="1050" dirty="0">
                <a:solidFill>
                  <a:srgbClr val="E6EAF2"/>
                </a:solidFill>
                <a:latin typeface="Menlo"/>
              </a:rPr>
              <a:t>        </a:t>
            </a:r>
            <a:r>
              <a:rPr sz="1050" dirty="0">
                <a:solidFill>
                  <a:srgbClr val="A8E0A0"/>
                </a:solidFill>
                <a:latin typeface="Menlo"/>
              </a:rPr>
              <a:t>"</a:t>
            </a:r>
            <a:r>
              <a:rPr sz="1050" dirty="0" err="1">
                <a:solidFill>
                  <a:srgbClr val="A8E0A0"/>
                </a:solidFill>
                <a:latin typeface="Menlo"/>
              </a:rPr>
              <a:t>atomic_unit</a:t>
            </a:r>
            <a:r>
              <a:rPr sz="1050" dirty="0">
                <a:solidFill>
                  <a:srgbClr val="A8E0A0"/>
                </a:solidFill>
                <a:latin typeface="Menlo"/>
              </a:rPr>
              <a:t>"</a:t>
            </a:r>
            <a:r>
              <a:rPr sz="1050" dirty="0">
                <a:solidFill>
                  <a:srgbClr val="E6EAF2"/>
                </a:solidFill>
                <a:latin typeface="Menlo"/>
              </a:rPr>
              <a:t>: </a:t>
            </a:r>
            <a:r>
              <a:rPr sz="1050" dirty="0" err="1">
                <a:solidFill>
                  <a:srgbClr val="E6EAF2"/>
                </a:solidFill>
                <a:latin typeface="Menlo"/>
              </a:rPr>
              <a:t>atom_text</a:t>
            </a:r>
            <a:r>
              <a:rPr sz="1050" dirty="0">
                <a:solidFill>
                  <a:srgbClr val="E6EAF2"/>
                </a:solidFill>
                <a:latin typeface="Menlo"/>
              </a:rPr>
              <a:t>,</a:t>
            </a:r>
          </a:p>
          <a:p>
            <a:pPr algn="l">
              <a:lnSpc>
                <a:spcPct val="116000"/>
              </a:lnSpc>
            </a:pPr>
            <a:r>
              <a:rPr sz="1050" dirty="0">
                <a:solidFill>
                  <a:srgbClr val="E6EAF2"/>
                </a:solidFill>
                <a:latin typeface="Menlo"/>
              </a:rPr>
              <a:t>        </a:t>
            </a:r>
            <a:r>
              <a:rPr sz="1050" dirty="0">
                <a:solidFill>
                  <a:srgbClr val="A8E0A0"/>
                </a:solidFill>
                <a:latin typeface="Menlo"/>
              </a:rPr>
              <a:t>"response"</a:t>
            </a:r>
            <a:r>
              <a:rPr sz="1050" dirty="0">
                <a:solidFill>
                  <a:srgbClr val="E6EAF2"/>
                </a:solidFill>
                <a:latin typeface="Menlo"/>
              </a:rPr>
              <a:t>: response,</a:t>
            </a:r>
          </a:p>
          <a:p>
            <a:pPr algn="l">
              <a:lnSpc>
                <a:spcPct val="116000"/>
              </a:lnSpc>
            </a:pPr>
            <a:r>
              <a:rPr sz="1050" dirty="0">
                <a:solidFill>
                  <a:srgbClr val="E6EAF2"/>
                </a:solidFill>
                <a:latin typeface="Menlo"/>
              </a:rPr>
              <a:t>    },</a:t>
            </a:r>
          </a:p>
          <a:p>
            <a:pPr algn="l">
              <a:lnSpc>
                <a:spcPct val="116000"/>
              </a:lnSpc>
            </a:pPr>
            <a:r>
              <a:rPr sz="1050" dirty="0">
                <a:solidFill>
                  <a:srgbClr val="E6EAF2"/>
                </a:solidFill>
                <a:latin typeface="Menlo"/>
              </a:rPr>
              <a:t>    strategy=</a:t>
            </a:r>
            <a:r>
              <a:rPr sz="1050" dirty="0" err="1">
                <a:solidFill>
                  <a:srgbClr val="E6EAF2"/>
                </a:solidFill>
                <a:latin typeface="Menlo"/>
              </a:rPr>
              <a:t>RejectionSamplingStrategy</a:t>
            </a:r>
            <a:r>
              <a:rPr sz="1050" dirty="0">
                <a:solidFill>
                  <a:srgbClr val="E6EAF2"/>
                </a:solidFill>
                <a:latin typeface="Menlo"/>
              </a:rPr>
              <a:t>(</a:t>
            </a:r>
          </a:p>
          <a:p>
            <a:pPr algn="l">
              <a:lnSpc>
                <a:spcPct val="116000"/>
              </a:lnSpc>
            </a:pPr>
            <a:r>
              <a:rPr sz="1050" dirty="0">
                <a:solidFill>
                  <a:srgbClr val="E6EAF2"/>
                </a:solidFill>
                <a:latin typeface="Menlo"/>
              </a:rPr>
              <a:t>        </a:t>
            </a:r>
            <a:r>
              <a:rPr sz="1050" dirty="0" err="1">
                <a:solidFill>
                  <a:srgbClr val="E6EAF2"/>
                </a:solidFill>
                <a:latin typeface="Menlo"/>
              </a:rPr>
              <a:t>loop_budget</a:t>
            </a:r>
            <a:r>
              <a:rPr sz="1050" dirty="0">
                <a:solidFill>
                  <a:srgbClr val="E6EAF2"/>
                </a:solidFill>
                <a:latin typeface="Menlo"/>
              </a:rPr>
              <a:t>=LOOP_BUDGET),</a:t>
            </a:r>
          </a:p>
          <a:p>
            <a:pPr algn="l">
              <a:lnSpc>
                <a:spcPct val="116000"/>
              </a:lnSpc>
            </a:pPr>
            <a:r>
              <a:rPr sz="1050" dirty="0">
                <a:solidFill>
                  <a:srgbClr val="E6EAF2"/>
                </a:solidFill>
                <a:latin typeface="Menlo"/>
              </a:rPr>
              <a:t>    </a:t>
            </a:r>
            <a:r>
              <a:rPr sz="1050" dirty="0" err="1">
                <a:solidFill>
                  <a:srgbClr val="E6EAF2"/>
                </a:solidFill>
                <a:latin typeface="Menlo"/>
              </a:rPr>
              <a:t>return_sampling_results</a:t>
            </a:r>
            <a:r>
              <a:rPr sz="1050" dirty="0">
                <a:solidFill>
                  <a:srgbClr val="E6EAF2"/>
                </a:solidFill>
                <a:latin typeface="Menlo"/>
              </a:rPr>
              <a:t>=</a:t>
            </a:r>
            <a:r>
              <a:rPr sz="1050" dirty="0">
                <a:solidFill>
                  <a:srgbClr val="8BC5FF"/>
                </a:solidFill>
                <a:latin typeface="Menlo"/>
              </a:rPr>
              <a:t>True</a:t>
            </a:r>
            <a:r>
              <a:rPr sz="1050" dirty="0">
                <a:solidFill>
                  <a:srgbClr val="E6EAF2"/>
                </a:solidFill>
                <a:latin typeface="Menlo"/>
              </a:rPr>
              <a:t>,</a:t>
            </a:r>
          </a:p>
          <a:p>
            <a:pPr algn="l">
              <a:lnSpc>
                <a:spcPct val="116000"/>
              </a:lnSpc>
            </a:pPr>
            <a:r>
              <a:rPr sz="1050" dirty="0">
                <a:solidFill>
                  <a:srgbClr val="E6EAF2"/>
                </a:solidFill>
                <a:latin typeface="Menlo"/>
              </a:rPr>
              <a:t>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5760720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5B6474"/>
                </a:solidFill>
                <a:latin typeface="Helvetica Neue"/>
              </a:rPr>
              <a:t>required_keys is enforced by the validator, so a response missing `rationale` is resampled rather than returned.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6419088"/>
            <a:ext cx="5486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9AA3B0"/>
                </a:solidFill>
                <a:latin typeface="Helvetica Neue"/>
              </a:rPr>
              <a:t>FactReasoner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419088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AA3B0"/>
                </a:solidFill>
                <a:latin typeface="Helvetica Neue"/>
              </a:rPr>
              <a:t>6 / 21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384048"/>
            <a:ext cx="108813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2D6CDF"/>
                </a:solidFill>
                <a:latin typeface="Helvetica Neue"/>
              </a:rPr>
              <a:t>COMPONENT 3 OF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0080"/>
            <a:ext cx="1088136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100" b="1" i="0">
                <a:solidFill>
                  <a:srgbClr val="1A1F2B"/>
                </a:solidFill>
                <a:latin typeface="Helvetica Neue"/>
              </a:rPr>
              <a:t>Retriever — gather the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88720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0" i="0">
                <a:solidFill>
                  <a:srgbClr val="5B6474"/>
                </a:solidFill>
                <a:latin typeface="Helvetica Neue"/>
              </a:rPr>
              <a:t>The only stage that is not purely a prompt: a query is generated, then the web is searched.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636776"/>
            <a:ext cx="541324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8A3FA8"/>
                </a:solidFill>
                <a:latin typeface="Helvetica Neue"/>
              </a:rPr>
              <a:t>INSTRUCTION_QUERY_BUILDER  (abridged)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883664"/>
            <a:ext cx="5413248" cy="2615184"/>
          </a:xfrm>
          <a:prstGeom prst="roundRect">
            <a:avLst>
              <a:gd name="adj" fmla="val 3000"/>
            </a:avLst>
          </a:prstGeom>
          <a:solidFill>
            <a:srgbClr val="FAFBFD"/>
          </a:solidFill>
          <a:ln w="12700">
            <a:solidFill>
              <a:srgbClr val="DD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91440" rIns="109728" bIns="73152" rtlCol="0" anchor="t"/>
          <a:lstStyle/>
          <a:p>
            <a:pPr algn="l">
              <a:lnSpc>
                <a:spcPct val="114000"/>
              </a:lnSpc>
            </a:pPr>
            <a:r>
              <a:rPr sz="1000">
                <a:solidFill>
                  <a:srgbClr val="1A1F2B"/>
                </a:solidFill>
                <a:latin typeface="Menlo"/>
              </a:rPr>
              <a:t>Your task is to generate a Google Search</a:t>
            </a:r>
          </a:p>
          <a:p>
            <a:pPr algn="l">
              <a:lnSpc>
                <a:spcPct val="114000"/>
              </a:lnSpc>
            </a:pPr>
            <a:r>
              <a:rPr sz="1000">
                <a:solidFill>
                  <a:srgbClr val="1A1F2B"/>
                </a:solidFill>
                <a:latin typeface="Menlo"/>
              </a:rPr>
              <a:t>query about a given STATEMENT, most likely to</a:t>
            </a:r>
          </a:p>
          <a:p>
            <a:pPr algn="l">
              <a:lnSpc>
                <a:spcPct val="114000"/>
              </a:lnSpc>
            </a:pPr>
            <a:r>
              <a:rPr sz="1000">
                <a:solidFill>
                  <a:srgbClr val="1A1F2B"/>
                </a:solidFill>
                <a:latin typeface="Menlo"/>
              </a:rPr>
              <a:t>retrieve relevant information about it.</a:t>
            </a:r>
          </a:p>
          <a:p>
            <a:pPr algn="l">
              <a:lnSpc>
                <a:spcPct val="114000"/>
              </a:lnSpc>
            </a:pPr>
            <a:endParaRPr sz="1000">
              <a:solidFill>
                <a:srgbClr val="1A1F2B"/>
              </a:solidFill>
              <a:latin typeface="Menlo"/>
            </a:endParaRPr>
          </a:p>
          <a:p>
            <a:pPr algn="l">
              <a:lnSpc>
                <a:spcPct val="114000"/>
              </a:lnSpc>
            </a:pPr>
            <a:r>
              <a:rPr sz="1000">
                <a:solidFill>
                  <a:srgbClr val="1A1F2B"/>
                </a:solidFill>
                <a:latin typeface="Menlo"/>
              </a:rPr>
              <a:t>A well-crafted query should:</a:t>
            </a:r>
          </a:p>
          <a:p>
            <a:pPr algn="l">
              <a:lnSpc>
                <a:spcPct val="114000"/>
              </a:lnSpc>
            </a:pPr>
            <a:r>
              <a:rPr sz="1000">
                <a:solidFill>
                  <a:srgbClr val="5B6474"/>
                </a:solidFill>
                <a:latin typeface="Menlo"/>
              </a:rPr>
              <a:t>- Retrieve information to verify the</a:t>
            </a:r>
          </a:p>
          <a:p>
            <a:pPr algn="l">
              <a:lnSpc>
                <a:spcPct val="114000"/>
              </a:lnSpc>
            </a:pPr>
            <a:r>
              <a:rPr sz="1000">
                <a:solidFill>
                  <a:srgbClr val="1A1F2B"/>
                </a:solidFill>
                <a:latin typeface="Menlo"/>
              </a:rPr>
              <a:t>  STATEMENT's factual accuracy.</a:t>
            </a:r>
          </a:p>
          <a:p>
            <a:pPr algn="l">
              <a:lnSpc>
                <a:spcPct val="114000"/>
              </a:lnSpc>
            </a:pPr>
            <a:r>
              <a:rPr sz="1000">
                <a:solidFill>
                  <a:srgbClr val="5B6474"/>
                </a:solidFill>
                <a:latin typeface="Menlo"/>
              </a:rPr>
              <a:t>- Balance specificity for targeted results</a:t>
            </a:r>
          </a:p>
          <a:p>
            <a:pPr algn="l">
              <a:lnSpc>
                <a:spcPct val="114000"/>
              </a:lnSpc>
            </a:pPr>
            <a:r>
              <a:rPr sz="1000">
                <a:solidFill>
                  <a:srgbClr val="1A1F2B"/>
                </a:solidFill>
                <a:latin typeface="Menlo"/>
              </a:rPr>
              <a:t>  with breadth to avoid missing critical</a:t>
            </a:r>
          </a:p>
          <a:p>
            <a:pPr algn="l">
              <a:lnSpc>
                <a:spcPct val="114000"/>
              </a:lnSpc>
            </a:pPr>
            <a:r>
              <a:rPr sz="1000">
                <a:solidFill>
                  <a:srgbClr val="1A1F2B"/>
                </a:solidFill>
                <a:latin typeface="Menlo"/>
              </a:rPr>
              <a:t>  information.</a:t>
            </a:r>
          </a:p>
          <a:p>
            <a:pPr algn="l">
              <a:lnSpc>
                <a:spcPct val="114000"/>
              </a:lnSpc>
            </a:pPr>
            <a:r>
              <a:rPr sz="1000">
                <a:solidFill>
                  <a:srgbClr val="5B6474"/>
                </a:solidFill>
                <a:latin typeface="Menlo"/>
              </a:rPr>
              <a:t>- Prioritize natural language queries that a</a:t>
            </a:r>
          </a:p>
          <a:p>
            <a:pPr algn="l">
              <a:lnSpc>
                <a:spcPct val="114000"/>
              </a:lnSpc>
            </a:pPr>
            <a:r>
              <a:rPr sz="1000">
                <a:solidFill>
                  <a:srgbClr val="1A1F2B"/>
                </a:solidFill>
                <a:latin typeface="Menlo"/>
              </a:rPr>
              <a:t>  typical user might enter.</a:t>
            </a:r>
          </a:p>
          <a:p>
            <a:pPr algn="l">
              <a:lnSpc>
                <a:spcPct val="114000"/>
              </a:lnSpc>
            </a:pPr>
            <a:r>
              <a:rPr sz="1000">
                <a:solidFill>
                  <a:srgbClr val="5B6474"/>
                </a:solidFill>
                <a:latin typeface="Menlo"/>
              </a:rPr>
              <a:t>- Use special operators (quotation marks,</a:t>
            </a:r>
          </a:p>
          <a:p>
            <a:pPr algn="l">
              <a:lnSpc>
                <a:spcPct val="114000"/>
              </a:lnSpc>
            </a:pPr>
            <a:r>
              <a:rPr sz="1000">
                <a:solidFill>
                  <a:srgbClr val="1A1F2B"/>
                </a:solidFill>
                <a:latin typeface="Menlo"/>
              </a:rPr>
              <a:t>  "site:", Boolean, intitle:) selectively.</a:t>
            </a:r>
          </a:p>
          <a:p>
            <a:pPr algn="l">
              <a:lnSpc>
                <a:spcPct val="114000"/>
              </a:lnSpc>
            </a:pPr>
            <a:endParaRPr sz="1000">
              <a:solidFill>
                <a:srgbClr val="1A1F2B"/>
              </a:solidFill>
              <a:latin typeface="Menlo"/>
            </a:endParaRPr>
          </a:p>
          <a:p>
            <a:pPr algn="l">
              <a:lnSpc>
                <a:spcPct val="114000"/>
              </a:lnSpc>
            </a:pPr>
            <a:r>
              <a:rPr sz="1000">
                <a:solidFill>
                  <a:srgbClr val="1A1F2B"/>
                </a:solidFill>
                <a:latin typeface="Menlo"/>
              </a:rPr>
              <a:t>Format: wrapped in markdown code fences.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883664"/>
            <a:ext cx="41148" cy="2615184"/>
          </a:xfrm>
          <a:prstGeom prst="rect">
            <a:avLst/>
          </a:prstGeom>
          <a:solidFill>
            <a:srgbClr val="8A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364224" y="1627632"/>
            <a:ext cx="517550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5B6474"/>
                </a:solidFill>
                <a:latin typeface="Helvetica Neue"/>
              </a:rPr>
              <a:t>core/retriever.py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64224" y="1883664"/>
            <a:ext cx="5175504" cy="2615184"/>
          </a:xfrm>
          <a:prstGeom prst="roundRect">
            <a:avLst>
              <a:gd name="adj" fmla="val 3000"/>
            </a:avLst>
          </a:prstGeom>
          <a:solidFill>
            <a:srgbClr val="1E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28016" tIns="100584" rIns="128016" bIns="100584" rtlCol="0" anchor="t"/>
          <a:lstStyle/>
          <a:p>
            <a:pPr algn="l">
              <a:lnSpc>
                <a:spcPct val="116000"/>
              </a:lnSpc>
            </a:pPr>
            <a:r>
              <a:rPr sz="1050">
                <a:solidFill>
                  <a:srgbClr val="8A93A5"/>
                </a:solidFill>
                <a:latin typeface="Menlo"/>
              </a:rPr>
              <a:t># QueryBuilder is the prompted part ...</a:t>
            </a:r>
          </a:p>
          <a:p>
            <a:pPr algn="l">
              <a:lnSpc>
                <a:spcPct val="116000"/>
              </a:lnSpc>
            </a:pPr>
            <a:r>
              <a:rPr sz="1050">
                <a:solidFill>
                  <a:srgbClr val="E6EAF2"/>
                </a:solidFill>
                <a:latin typeface="Menlo"/>
              </a:rPr>
              <a:t>query = QueryBuilder(backend).run(atom_text)</a:t>
            </a:r>
          </a:p>
          <a:p>
            <a:pPr algn="l">
              <a:lnSpc>
                <a:spcPct val="116000"/>
              </a:lnSpc>
            </a:pPr>
            <a:endParaRPr sz="1050">
              <a:solidFill>
                <a:srgbClr val="E6EAF2"/>
              </a:solidFill>
              <a:latin typeface="Menlo"/>
            </a:endParaRPr>
          </a:p>
          <a:p>
            <a:pPr algn="l">
              <a:lnSpc>
                <a:spcPct val="116000"/>
              </a:lnSpc>
            </a:pPr>
            <a:r>
              <a:rPr sz="1050">
                <a:solidFill>
                  <a:srgbClr val="8A93A5"/>
                </a:solidFill>
                <a:latin typeface="Menlo"/>
              </a:rPr>
              <a:t># ... SourceRetriever is plain retrieval</a:t>
            </a:r>
          </a:p>
          <a:p>
            <a:pPr algn="l">
              <a:lnSpc>
                <a:spcPct val="116000"/>
              </a:lnSpc>
            </a:pPr>
            <a:r>
              <a:rPr sz="1050">
                <a:solidFill>
                  <a:srgbClr val="E6EAF2"/>
                </a:solidFill>
                <a:latin typeface="Menlo"/>
              </a:rPr>
              <a:t>retriever = SourceRetriever(</a:t>
            </a:r>
          </a:p>
          <a:p>
            <a:pPr algn="l">
              <a:lnSpc>
                <a:spcPct val="116000"/>
              </a:lnSpc>
            </a:pPr>
            <a:r>
              <a:rPr sz="1050">
                <a:solidFill>
                  <a:srgbClr val="E6EAF2"/>
                </a:solidFill>
                <a:latin typeface="Menlo"/>
              </a:rPr>
              <a:t>    service_type=</a:t>
            </a:r>
            <a:r>
              <a:rPr sz="1050">
                <a:solidFill>
                  <a:srgbClr val="A8E0A0"/>
                </a:solidFill>
                <a:latin typeface="Menlo"/>
              </a:rPr>
              <a:t>"google"</a:t>
            </a:r>
            <a:r>
              <a:rPr sz="1050">
                <a:solidFill>
                  <a:srgbClr val="E6EAF2"/>
                </a:solidFill>
                <a:latin typeface="Menlo"/>
              </a:rPr>
              <a:t>,   # | wikipedia | chromadb</a:t>
            </a:r>
          </a:p>
          <a:p>
            <a:pPr algn="l">
              <a:lnSpc>
                <a:spcPct val="116000"/>
              </a:lnSpc>
            </a:pPr>
            <a:r>
              <a:rPr sz="1050">
                <a:solidFill>
                  <a:srgbClr val="E6EAF2"/>
                </a:solidFill>
                <a:latin typeface="Menlo"/>
              </a:rPr>
              <a:t>    top_k=5,</a:t>
            </a:r>
          </a:p>
          <a:p>
            <a:pPr algn="l">
              <a:lnSpc>
                <a:spcPct val="116000"/>
              </a:lnSpc>
            </a:pPr>
            <a:r>
              <a:rPr sz="1050">
                <a:solidFill>
                  <a:srgbClr val="E6EAF2"/>
                </a:solidFill>
                <a:latin typeface="Menlo"/>
              </a:rPr>
              <a:t>    fetch_text=</a:t>
            </a:r>
            <a:r>
              <a:rPr sz="1050">
                <a:solidFill>
                  <a:srgbClr val="8BC5FF"/>
                </a:solidFill>
                <a:latin typeface="Menlo"/>
              </a:rPr>
              <a:t>True</a:t>
            </a:r>
            <a:r>
              <a:rPr sz="1050">
                <a:solidFill>
                  <a:srgbClr val="E6EAF2"/>
                </a:solidFill>
                <a:latin typeface="Menlo"/>
              </a:rPr>
              <a:t>,         # fetch full pages</a:t>
            </a:r>
          </a:p>
          <a:p>
            <a:pPr algn="l">
              <a:lnSpc>
                <a:spcPct val="116000"/>
              </a:lnSpc>
            </a:pPr>
            <a:r>
              <a:rPr sz="1050">
                <a:solidFill>
                  <a:srgbClr val="E6EAF2"/>
                </a:solidFill>
                <a:latin typeface="Menlo"/>
              </a:rPr>
              <a:t>    query_builder=QueryBuilder(backend),</a:t>
            </a:r>
          </a:p>
          <a:p>
            <a:pPr algn="l">
              <a:lnSpc>
                <a:spcPct val="116000"/>
              </a:lnSpc>
            </a:pPr>
            <a:r>
              <a:rPr sz="1050">
                <a:solidFill>
                  <a:srgbClr val="E6EAF2"/>
                </a:solidFill>
                <a:latin typeface="Menlo"/>
              </a:rPr>
              <a:t>    num_workers=4,</a:t>
            </a:r>
          </a:p>
          <a:p>
            <a:pPr algn="l">
              <a:lnSpc>
                <a:spcPct val="116000"/>
              </a:lnSpc>
            </a:pPr>
            <a:r>
              <a:rPr sz="1050">
                <a:solidFill>
                  <a:srgbClr val="E6EAF2"/>
                </a:solidFill>
                <a:latin typeface="Menlo"/>
              </a:rPr>
              <a:t>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4882896"/>
            <a:ext cx="10881360" cy="1115568"/>
          </a:xfrm>
          <a:prstGeom prst="roundRect">
            <a:avLst>
              <a:gd name="adj" fmla="val 3000"/>
            </a:avLst>
          </a:prstGeom>
          <a:solidFill>
            <a:srgbClr val="1E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28016" tIns="100584" rIns="128016" bIns="100584" rtlCol="0" anchor="t"/>
          <a:lstStyle/>
          <a:p>
            <a:pPr algn="l">
              <a:lnSpc>
                <a:spcPct val="116000"/>
              </a:lnSpc>
            </a:pPr>
            <a:r>
              <a:rPr sz="1050">
                <a:solidFill>
                  <a:srgbClr val="8A93A5"/>
                </a:solidFill>
                <a:latin typeface="Menlo"/>
              </a:rPr>
              <a:t># ContextRetriever wraps a SourceRetriever and runs one retrieval per atom, concurrently.</a:t>
            </a:r>
          </a:p>
          <a:p>
            <a:pPr algn="l">
              <a:lnSpc>
                <a:spcPct val="116000"/>
              </a:lnSpc>
            </a:pPr>
            <a:r>
              <a:rPr sz="1050">
                <a:solidFill>
                  <a:srgbClr val="E6EAF2"/>
                </a:solidFill>
                <a:latin typeface="Menlo"/>
              </a:rPr>
              <a:t>context_retriever = ContextRetriever(retriever=retriever, context_summarizer=ContextSummarizer(backend), num_workers=4)</a:t>
            </a:r>
          </a:p>
          <a:p>
            <a:pPr algn="l">
              <a:lnSpc>
                <a:spcPct val="116000"/>
              </a:lnSpc>
            </a:pPr>
            <a:r>
              <a:rPr sz="1050">
                <a:solidFill>
                  <a:srgbClr val="E6EAF2"/>
                </a:solidFill>
                <a:latin typeface="Menlo"/>
              </a:rPr>
              <a:t>contexts = context_retriever.retrieve_all(atoms, query=query)     # -&gt; {context_id: Context}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5760720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 dirty="0" err="1">
                <a:solidFill>
                  <a:srgbClr val="5B6474"/>
                </a:solidFill>
                <a:latin typeface="Helvetica Neue"/>
              </a:rPr>
              <a:t>ContextSummarizer</a:t>
            </a:r>
            <a:r>
              <a:rPr sz="1200" b="0" i="0" dirty="0">
                <a:solidFill>
                  <a:srgbClr val="5B6474"/>
                </a:solidFill>
                <a:latin typeface="Helvetica Neue"/>
              </a:rPr>
              <a:t> is a second prompted step: it compresses each retrieved page so the NLI stage sees evidence, not boilerplate.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419088"/>
            <a:ext cx="5486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9AA3B0"/>
                </a:solidFill>
                <a:latin typeface="Helvetica Neue"/>
              </a:rPr>
              <a:t>FactReasoner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19088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AA3B0"/>
                </a:solidFill>
                <a:latin typeface="Helvetica Neue"/>
              </a:rPr>
              <a:t>7 / 21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384048"/>
            <a:ext cx="108813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2D6CDF"/>
                </a:solidFill>
                <a:latin typeface="Helvetica Neue"/>
              </a:rPr>
              <a:t>COMPONENT 4 OF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0080"/>
            <a:ext cx="1088136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100" b="1" i="0">
                <a:solidFill>
                  <a:srgbClr val="1A1F2B"/>
                </a:solidFill>
                <a:latin typeface="Helvetica Neue"/>
              </a:rPr>
              <a:t>NLIExtractor — relate claim to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88720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0" i="0">
                <a:solidFill>
                  <a:srgbClr val="5B6474"/>
                </a:solidFill>
                <a:latin typeface="Helvetica Neue"/>
              </a:rPr>
              <a:t>This is the stage that supplies every edge weight in the graph, and it dominates the cost of a run.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636776"/>
            <a:ext cx="541324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B53D7A"/>
                </a:solidFill>
                <a:latin typeface="Helvetica Neue"/>
              </a:rPr>
              <a:t>INSTRUCTION_NLI  (abridged)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883664"/>
            <a:ext cx="5413248" cy="3346704"/>
          </a:xfrm>
          <a:prstGeom prst="roundRect">
            <a:avLst>
              <a:gd name="adj" fmla="val 3000"/>
            </a:avLst>
          </a:prstGeom>
          <a:solidFill>
            <a:srgbClr val="FAFBFD"/>
          </a:solidFill>
          <a:ln w="12700">
            <a:solidFill>
              <a:srgbClr val="DD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91440" rIns="109728" bIns="73152" rtlCol="0" anchor="t"/>
          <a:lstStyle/>
          <a:p>
            <a:pPr algn="l">
              <a:lnSpc>
                <a:spcPct val="114000"/>
              </a:lnSpc>
            </a:pPr>
            <a:r>
              <a:rPr sz="1000">
                <a:solidFill>
                  <a:srgbClr val="1A1F2B"/>
                </a:solidFill>
                <a:latin typeface="Menlo"/>
              </a:rPr>
              <a:t>You are provided with a PREMISE and a</a:t>
            </a:r>
          </a:p>
          <a:p>
            <a:pPr algn="l">
              <a:lnSpc>
                <a:spcPct val="114000"/>
              </a:lnSpc>
            </a:pPr>
            <a:r>
              <a:rPr sz="1000">
                <a:solidFill>
                  <a:srgbClr val="1A1F2B"/>
                </a:solidFill>
                <a:latin typeface="Menlo"/>
              </a:rPr>
              <a:t>HYPOTHESIS. Evaluate the relationship:</a:t>
            </a:r>
          </a:p>
          <a:p>
            <a:pPr algn="l">
              <a:lnSpc>
                <a:spcPct val="114000"/>
              </a:lnSpc>
            </a:pPr>
            <a:endParaRPr sz="1000">
              <a:solidFill>
                <a:srgbClr val="1A1F2B"/>
              </a:solidFill>
              <a:latin typeface="Menlo"/>
            </a:endParaRPr>
          </a:p>
          <a:p>
            <a:pPr algn="l">
              <a:lnSpc>
                <a:spcPct val="114000"/>
              </a:lnSpc>
            </a:pPr>
            <a:r>
              <a:rPr sz="1000">
                <a:solidFill>
                  <a:srgbClr val="1A1F2B"/>
                </a:solidFill>
                <a:latin typeface="Menlo"/>
              </a:rPr>
              <a:t>1. Evaluate Relationship:</a:t>
            </a:r>
          </a:p>
          <a:p>
            <a:pPr algn="l">
              <a:lnSpc>
                <a:spcPct val="114000"/>
              </a:lnSpc>
            </a:pPr>
            <a:r>
              <a:rPr sz="1000">
                <a:solidFill>
                  <a:srgbClr val="5B6474"/>
                </a:solidFill>
                <a:latin typeface="Menlo"/>
              </a:rPr>
              <a:t>- If the PREMISE strongly implies or directly</a:t>
            </a:r>
          </a:p>
          <a:p>
            <a:pPr algn="l">
              <a:lnSpc>
                <a:spcPct val="114000"/>
              </a:lnSpc>
            </a:pPr>
            <a:r>
              <a:rPr sz="1000">
                <a:solidFill>
                  <a:srgbClr val="1A1F2B"/>
                </a:solidFill>
                <a:latin typeface="Menlo"/>
              </a:rPr>
              <a:t>  supports the HYPOTHESIS, explain the</a:t>
            </a:r>
          </a:p>
          <a:p>
            <a:pPr algn="l">
              <a:lnSpc>
                <a:spcPct val="114000"/>
              </a:lnSpc>
            </a:pPr>
            <a:r>
              <a:rPr sz="1000">
                <a:solidFill>
                  <a:srgbClr val="1A1F2B"/>
                </a:solidFill>
                <a:latin typeface="Menlo"/>
              </a:rPr>
              <a:t>  supporting evidence.</a:t>
            </a:r>
          </a:p>
          <a:p>
            <a:pPr algn="l">
              <a:lnSpc>
                <a:spcPct val="114000"/>
              </a:lnSpc>
            </a:pPr>
            <a:r>
              <a:rPr sz="1000">
                <a:solidFill>
                  <a:srgbClr val="5B6474"/>
                </a:solidFill>
                <a:latin typeface="Menlo"/>
              </a:rPr>
              <a:t>- If the PREMISE contradicts the HYPOTHESIS,</a:t>
            </a:r>
          </a:p>
          <a:p>
            <a:pPr algn="l">
              <a:lnSpc>
                <a:spcPct val="114000"/>
              </a:lnSpc>
            </a:pPr>
            <a:r>
              <a:rPr sz="1000">
                <a:solidFill>
                  <a:srgbClr val="1A1F2B"/>
                </a:solidFill>
                <a:latin typeface="Menlo"/>
              </a:rPr>
              <a:t>  identify the conflicting evidence.</a:t>
            </a:r>
          </a:p>
          <a:p>
            <a:pPr algn="l">
              <a:lnSpc>
                <a:spcPct val="114000"/>
              </a:lnSpc>
            </a:pPr>
            <a:r>
              <a:rPr sz="1000">
                <a:solidFill>
                  <a:srgbClr val="5B6474"/>
                </a:solidFill>
                <a:latin typeface="Menlo"/>
              </a:rPr>
              <a:t>- If the PREMISE is insufficient, explain why</a:t>
            </a:r>
          </a:p>
          <a:p>
            <a:pPr algn="l">
              <a:lnSpc>
                <a:spcPct val="114000"/>
              </a:lnSpc>
            </a:pPr>
            <a:r>
              <a:rPr sz="1000">
                <a:solidFill>
                  <a:srgbClr val="1A1F2B"/>
                </a:solidFill>
                <a:latin typeface="Menlo"/>
              </a:rPr>
              <a:t>  the evidence is inconclusive.</a:t>
            </a:r>
          </a:p>
          <a:p>
            <a:pPr algn="l">
              <a:lnSpc>
                <a:spcPct val="114000"/>
              </a:lnSpc>
            </a:pPr>
            <a:r>
              <a:rPr sz="1000">
                <a:solidFill>
                  <a:srgbClr val="1A1F2B"/>
                </a:solidFill>
                <a:latin typeface="Menlo"/>
              </a:rPr>
              <a:t>2. Provide the reasoning behind your evaluation.</a:t>
            </a:r>
          </a:p>
          <a:p>
            <a:pPr algn="l">
              <a:lnSpc>
                <a:spcPct val="114000"/>
              </a:lnSpc>
            </a:pPr>
            <a:r>
              <a:rPr sz="1000">
                <a:solidFill>
                  <a:srgbClr val="1A1F2B"/>
                </a:solidFill>
                <a:latin typeface="Menlo"/>
              </a:rPr>
              <a:t>3. Final Answer: one of</a:t>
            </a:r>
          </a:p>
          <a:p>
            <a:pPr algn="l">
              <a:lnSpc>
                <a:spcPct val="114000"/>
              </a:lnSpc>
            </a:pPr>
            <a:r>
              <a:rPr sz="1000">
                <a:solidFill>
                  <a:srgbClr val="1A1F2B"/>
                </a:solidFill>
                <a:latin typeface="Menlo"/>
              </a:rPr>
              <a:t>   [entailment] [contradiction] [neutral]</a:t>
            </a:r>
          </a:p>
          <a:p>
            <a:pPr algn="l">
              <a:lnSpc>
                <a:spcPct val="114000"/>
              </a:lnSpc>
            </a:pPr>
            <a:endParaRPr sz="1000">
              <a:solidFill>
                <a:srgbClr val="1A1F2B"/>
              </a:solidFill>
              <a:latin typeface="Menlo"/>
            </a:endParaRPr>
          </a:p>
          <a:p>
            <a:pPr algn="l">
              <a:lnSpc>
                <a:spcPct val="114000"/>
              </a:lnSpc>
            </a:pPr>
            <a:r>
              <a:rPr sz="1000">
                <a:solidFill>
                  <a:srgbClr val="1A1F2B"/>
                </a:solidFill>
                <a:latin typeface="Menlo"/>
              </a:rPr>
              <a:t>+ 3 few-shot examples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883664"/>
            <a:ext cx="41148" cy="3346704"/>
          </a:xfrm>
          <a:prstGeom prst="rect">
            <a:avLst/>
          </a:prstGeom>
          <a:solidFill>
            <a:srgbClr val="B53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364224" y="1627632"/>
            <a:ext cx="517550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5B6474"/>
                </a:solidFill>
                <a:latin typeface="Helvetica Neue"/>
              </a:rPr>
              <a:t>core/nli.py  —  the Mellea call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64224" y="1883664"/>
            <a:ext cx="5175504" cy="3877056"/>
          </a:xfrm>
          <a:prstGeom prst="roundRect">
            <a:avLst>
              <a:gd name="adj" fmla="val 3000"/>
            </a:avLst>
          </a:prstGeom>
          <a:solidFill>
            <a:srgbClr val="1E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28016" tIns="100584" rIns="128016" bIns="100584" rtlCol="0" anchor="t"/>
          <a:lstStyle/>
          <a:p>
            <a:pPr algn="l">
              <a:lnSpc>
                <a:spcPct val="116000"/>
              </a:lnSpc>
            </a:pPr>
            <a:r>
              <a:rPr sz="1050" dirty="0">
                <a:solidFill>
                  <a:srgbClr val="E6EAF2"/>
                </a:solidFill>
                <a:latin typeface="Menlo"/>
              </a:rPr>
              <a:t>output = </a:t>
            </a:r>
            <a:r>
              <a:rPr sz="1050" dirty="0">
                <a:solidFill>
                  <a:srgbClr val="8BC5FF"/>
                </a:solidFill>
                <a:latin typeface="Menlo"/>
              </a:rPr>
              <a:t>await</a:t>
            </a:r>
            <a:r>
              <a:rPr sz="1050" dirty="0">
                <a:solidFill>
                  <a:srgbClr val="E6EAF2"/>
                </a:solidFill>
                <a:latin typeface="Menlo"/>
              </a:rPr>
              <a:t> </a:t>
            </a:r>
            <a:r>
              <a:rPr sz="1050" dirty="0" err="1">
                <a:solidFill>
                  <a:srgbClr val="E6EAF2"/>
                </a:solidFill>
                <a:latin typeface="Menlo"/>
              </a:rPr>
              <a:t>mfuncs.ainstruct</a:t>
            </a:r>
            <a:r>
              <a:rPr sz="1050" dirty="0">
                <a:solidFill>
                  <a:srgbClr val="E6EAF2"/>
                </a:solidFill>
                <a:latin typeface="Menlo"/>
              </a:rPr>
              <a:t>(</a:t>
            </a:r>
          </a:p>
          <a:p>
            <a:pPr algn="l">
              <a:lnSpc>
                <a:spcPct val="116000"/>
              </a:lnSpc>
            </a:pPr>
            <a:r>
              <a:rPr sz="1050" dirty="0">
                <a:solidFill>
                  <a:srgbClr val="E6EAF2"/>
                </a:solidFill>
                <a:latin typeface="Menlo"/>
              </a:rPr>
              <a:t>    </a:t>
            </a:r>
            <a:r>
              <a:rPr sz="1050" dirty="0" err="1">
                <a:solidFill>
                  <a:srgbClr val="E6EAF2"/>
                </a:solidFill>
                <a:latin typeface="Menlo"/>
              </a:rPr>
              <a:t>self._instruction</a:t>
            </a:r>
            <a:r>
              <a:rPr sz="1050" dirty="0">
                <a:solidFill>
                  <a:srgbClr val="E6EAF2"/>
                </a:solidFill>
                <a:latin typeface="Menlo"/>
              </a:rPr>
              <a:t>,</a:t>
            </a:r>
          </a:p>
          <a:p>
            <a:pPr algn="l">
              <a:lnSpc>
                <a:spcPct val="116000"/>
              </a:lnSpc>
            </a:pPr>
            <a:r>
              <a:rPr sz="1050" dirty="0">
                <a:solidFill>
                  <a:srgbClr val="E6EAF2"/>
                </a:solidFill>
                <a:latin typeface="Menlo"/>
              </a:rPr>
              <a:t>    context=</a:t>
            </a:r>
            <a:r>
              <a:rPr sz="1050" dirty="0" err="1">
                <a:solidFill>
                  <a:srgbClr val="E6EAF2"/>
                </a:solidFill>
                <a:latin typeface="Menlo"/>
              </a:rPr>
              <a:t>SimpleContext</a:t>
            </a:r>
            <a:r>
              <a:rPr sz="1050" dirty="0">
                <a:solidFill>
                  <a:srgbClr val="E6EAF2"/>
                </a:solidFill>
                <a:latin typeface="Menlo"/>
              </a:rPr>
              <a:t>(),</a:t>
            </a:r>
          </a:p>
          <a:p>
            <a:pPr algn="l">
              <a:lnSpc>
                <a:spcPct val="116000"/>
              </a:lnSpc>
            </a:pPr>
            <a:r>
              <a:rPr sz="1050" dirty="0">
                <a:solidFill>
                  <a:srgbClr val="E6EAF2"/>
                </a:solidFill>
                <a:latin typeface="Menlo"/>
              </a:rPr>
              <a:t>    backend=</a:t>
            </a:r>
            <a:r>
              <a:rPr sz="1050" dirty="0" err="1">
                <a:solidFill>
                  <a:srgbClr val="E6EAF2"/>
                </a:solidFill>
                <a:latin typeface="Menlo"/>
              </a:rPr>
              <a:t>self.backend</a:t>
            </a:r>
            <a:r>
              <a:rPr sz="1050" dirty="0">
                <a:solidFill>
                  <a:srgbClr val="E6EAF2"/>
                </a:solidFill>
                <a:latin typeface="Menlo"/>
              </a:rPr>
              <a:t>,</a:t>
            </a:r>
          </a:p>
          <a:p>
            <a:pPr algn="l">
              <a:lnSpc>
                <a:spcPct val="116000"/>
              </a:lnSpc>
            </a:pPr>
            <a:r>
              <a:rPr sz="1050" dirty="0">
                <a:solidFill>
                  <a:srgbClr val="E6EAF2"/>
                </a:solidFill>
                <a:latin typeface="Menlo"/>
              </a:rPr>
              <a:t>    requirements=[</a:t>
            </a:r>
          </a:p>
          <a:p>
            <a:pPr algn="l">
              <a:lnSpc>
                <a:spcPct val="116000"/>
              </a:lnSpc>
            </a:pPr>
            <a:r>
              <a:rPr sz="1050" dirty="0">
                <a:solidFill>
                  <a:srgbClr val="E6EAF2"/>
                </a:solidFill>
                <a:latin typeface="Menlo"/>
              </a:rPr>
              <a:t>        check(</a:t>
            </a:r>
            <a:r>
              <a:rPr sz="1050" dirty="0">
                <a:solidFill>
                  <a:srgbClr val="A8E0A0"/>
                </a:solidFill>
                <a:latin typeface="Menlo"/>
              </a:rPr>
              <a:t>"The output must contain an NLI label, "</a:t>
            </a:r>
          </a:p>
          <a:p>
            <a:pPr algn="l">
              <a:lnSpc>
                <a:spcPct val="116000"/>
              </a:lnSpc>
            </a:pPr>
            <a:r>
              <a:rPr sz="1050" dirty="0">
                <a:solidFill>
                  <a:srgbClr val="E6EAF2"/>
                </a:solidFill>
                <a:latin typeface="Menlo"/>
              </a:rPr>
              <a:t>              </a:t>
            </a:r>
            <a:r>
              <a:rPr sz="1050" dirty="0">
                <a:solidFill>
                  <a:srgbClr val="A8E0A0"/>
                </a:solidFill>
                <a:latin typeface="Menlo"/>
              </a:rPr>
              <a:t>'either as {"label": "..."} or wrapped '</a:t>
            </a:r>
          </a:p>
          <a:p>
            <a:pPr algn="l">
              <a:lnSpc>
                <a:spcPct val="116000"/>
              </a:lnSpc>
            </a:pPr>
            <a:r>
              <a:rPr sz="1050" dirty="0">
                <a:solidFill>
                  <a:srgbClr val="E6EAF2"/>
                </a:solidFill>
                <a:latin typeface="Menlo"/>
              </a:rPr>
              <a:t>              </a:t>
            </a:r>
            <a:r>
              <a:rPr sz="1050" dirty="0">
                <a:solidFill>
                  <a:srgbClr val="A8E0A0"/>
                </a:solidFill>
                <a:latin typeface="Menlo"/>
              </a:rPr>
              <a:t>"in square brackets."</a:t>
            </a:r>
            <a:r>
              <a:rPr sz="1050" dirty="0">
                <a:solidFill>
                  <a:srgbClr val="E6EAF2"/>
                </a:solidFill>
                <a:latin typeface="Menlo"/>
              </a:rPr>
              <a:t>,</a:t>
            </a:r>
          </a:p>
          <a:p>
            <a:pPr algn="l">
              <a:lnSpc>
                <a:spcPct val="116000"/>
              </a:lnSpc>
            </a:pPr>
            <a:r>
              <a:rPr sz="1050" dirty="0">
                <a:solidFill>
                  <a:srgbClr val="E6EAF2"/>
                </a:solidFill>
                <a:latin typeface="Menlo"/>
              </a:rPr>
              <a:t>              </a:t>
            </a:r>
            <a:r>
              <a:rPr sz="1050" dirty="0" err="1">
                <a:solidFill>
                  <a:srgbClr val="E6EAF2"/>
                </a:solidFill>
                <a:latin typeface="Menlo"/>
              </a:rPr>
              <a:t>validation_fn</a:t>
            </a:r>
            <a:r>
              <a:rPr sz="1050" dirty="0">
                <a:solidFill>
                  <a:srgbClr val="E6EAF2"/>
                </a:solidFill>
                <a:latin typeface="Menlo"/>
              </a:rPr>
              <a:t>=</a:t>
            </a:r>
            <a:r>
              <a:rPr sz="1050" dirty="0" err="1">
                <a:solidFill>
                  <a:srgbClr val="E6EAF2"/>
                </a:solidFill>
                <a:latin typeface="Menlo"/>
              </a:rPr>
              <a:t>simple_validate</a:t>
            </a:r>
            <a:r>
              <a:rPr sz="1050" dirty="0">
                <a:solidFill>
                  <a:srgbClr val="E6EAF2"/>
                </a:solidFill>
                <a:latin typeface="Menlo"/>
              </a:rPr>
              <a:t>(</a:t>
            </a:r>
          </a:p>
          <a:p>
            <a:pPr algn="l">
              <a:lnSpc>
                <a:spcPct val="116000"/>
              </a:lnSpc>
            </a:pPr>
            <a:r>
              <a:rPr sz="1050" dirty="0">
                <a:solidFill>
                  <a:srgbClr val="E6EAF2"/>
                </a:solidFill>
                <a:latin typeface="Menlo"/>
              </a:rPr>
              <a:t>                  lambda s: </a:t>
            </a:r>
            <a:r>
              <a:rPr sz="1050" dirty="0" err="1">
                <a:solidFill>
                  <a:srgbClr val="E6EAF2"/>
                </a:solidFill>
                <a:latin typeface="Menlo"/>
              </a:rPr>
              <a:t>extract_nli_label_and_span</a:t>
            </a:r>
            <a:r>
              <a:rPr sz="1050" dirty="0">
                <a:solidFill>
                  <a:srgbClr val="E6EAF2"/>
                </a:solidFill>
                <a:latin typeface="Menlo"/>
              </a:rPr>
              <a:t>(</a:t>
            </a:r>
          </a:p>
          <a:p>
            <a:pPr algn="l">
              <a:lnSpc>
                <a:spcPct val="116000"/>
              </a:lnSpc>
            </a:pPr>
            <a:r>
              <a:rPr sz="1050" dirty="0">
                <a:solidFill>
                  <a:srgbClr val="E6EAF2"/>
                </a:solidFill>
                <a:latin typeface="Menlo"/>
              </a:rPr>
              <a:t>                      s)[0] != </a:t>
            </a:r>
            <a:r>
              <a:rPr sz="1050" dirty="0">
                <a:solidFill>
                  <a:srgbClr val="A8E0A0"/>
                </a:solidFill>
                <a:latin typeface="Menlo"/>
              </a:rPr>
              <a:t>""</a:t>
            </a:r>
            <a:r>
              <a:rPr sz="1050" dirty="0">
                <a:solidFill>
                  <a:srgbClr val="E6EAF2"/>
                </a:solidFill>
                <a:latin typeface="Menlo"/>
              </a:rPr>
              <a:t>)),</a:t>
            </a:r>
          </a:p>
          <a:p>
            <a:pPr algn="l">
              <a:lnSpc>
                <a:spcPct val="116000"/>
              </a:lnSpc>
            </a:pPr>
            <a:r>
              <a:rPr sz="1050" dirty="0">
                <a:solidFill>
                  <a:srgbClr val="E6EAF2"/>
                </a:solidFill>
                <a:latin typeface="Menlo"/>
              </a:rPr>
              <a:t>    ],</a:t>
            </a:r>
          </a:p>
          <a:p>
            <a:pPr algn="l">
              <a:lnSpc>
                <a:spcPct val="116000"/>
              </a:lnSpc>
            </a:pPr>
            <a:r>
              <a:rPr sz="1050" dirty="0">
                <a:solidFill>
                  <a:srgbClr val="E6EAF2"/>
                </a:solidFill>
                <a:latin typeface="Menlo"/>
              </a:rPr>
              <a:t>    </a:t>
            </a:r>
            <a:r>
              <a:rPr sz="1050" dirty="0" err="1">
                <a:solidFill>
                  <a:srgbClr val="E6EAF2"/>
                </a:solidFill>
                <a:latin typeface="Menlo"/>
              </a:rPr>
              <a:t>user_variables</a:t>
            </a:r>
            <a:r>
              <a:rPr sz="1050" dirty="0">
                <a:solidFill>
                  <a:srgbClr val="E6EAF2"/>
                </a:solidFill>
                <a:latin typeface="Menlo"/>
              </a:rPr>
              <a:t>={</a:t>
            </a:r>
          </a:p>
          <a:p>
            <a:pPr algn="l">
              <a:lnSpc>
                <a:spcPct val="116000"/>
              </a:lnSpc>
            </a:pPr>
            <a:r>
              <a:rPr sz="1050" dirty="0">
                <a:solidFill>
                  <a:srgbClr val="E6EAF2"/>
                </a:solidFill>
                <a:latin typeface="Menlo"/>
              </a:rPr>
              <a:t>        </a:t>
            </a:r>
            <a:r>
              <a:rPr sz="1050" dirty="0">
                <a:solidFill>
                  <a:srgbClr val="A8E0A0"/>
                </a:solidFill>
                <a:latin typeface="Menlo"/>
              </a:rPr>
              <a:t>"</a:t>
            </a:r>
            <a:r>
              <a:rPr sz="1050" dirty="0" err="1">
                <a:solidFill>
                  <a:srgbClr val="A8E0A0"/>
                </a:solidFill>
                <a:latin typeface="Menlo"/>
              </a:rPr>
              <a:t>premise_text</a:t>
            </a:r>
            <a:r>
              <a:rPr sz="1050" dirty="0">
                <a:solidFill>
                  <a:srgbClr val="A8E0A0"/>
                </a:solidFill>
                <a:latin typeface="Menlo"/>
              </a:rPr>
              <a:t>"</a:t>
            </a:r>
            <a:r>
              <a:rPr sz="1050" dirty="0">
                <a:solidFill>
                  <a:srgbClr val="E6EAF2"/>
                </a:solidFill>
                <a:latin typeface="Menlo"/>
              </a:rPr>
              <a:t>: premise,</a:t>
            </a:r>
          </a:p>
          <a:p>
            <a:pPr algn="l">
              <a:lnSpc>
                <a:spcPct val="116000"/>
              </a:lnSpc>
            </a:pPr>
            <a:r>
              <a:rPr sz="1050" dirty="0">
                <a:solidFill>
                  <a:srgbClr val="E6EAF2"/>
                </a:solidFill>
                <a:latin typeface="Menlo"/>
              </a:rPr>
              <a:t>        </a:t>
            </a:r>
            <a:r>
              <a:rPr sz="1050" dirty="0">
                <a:solidFill>
                  <a:srgbClr val="A8E0A0"/>
                </a:solidFill>
                <a:latin typeface="Menlo"/>
              </a:rPr>
              <a:t>"</a:t>
            </a:r>
            <a:r>
              <a:rPr sz="1050" dirty="0" err="1">
                <a:solidFill>
                  <a:srgbClr val="A8E0A0"/>
                </a:solidFill>
                <a:latin typeface="Menlo"/>
              </a:rPr>
              <a:t>hypothesis_text</a:t>
            </a:r>
            <a:r>
              <a:rPr sz="1050" dirty="0">
                <a:solidFill>
                  <a:srgbClr val="A8E0A0"/>
                </a:solidFill>
                <a:latin typeface="Menlo"/>
              </a:rPr>
              <a:t>"</a:t>
            </a:r>
            <a:r>
              <a:rPr sz="1050" dirty="0">
                <a:solidFill>
                  <a:srgbClr val="E6EAF2"/>
                </a:solidFill>
                <a:latin typeface="Menlo"/>
              </a:rPr>
              <a:t>: hypothesis,</a:t>
            </a:r>
          </a:p>
          <a:p>
            <a:pPr algn="l">
              <a:lnSpc>
                <a:spcPct val="116000"/>
              </a:lnSpc>
            </a:pPr>
            <a:r>
              <a:rPr sz="1050" dirty="0">
                <a:solidFill>
                  <a:srgbClr val="E6EAF2"/>
                </a:solidFill>
                <a:latin typeface="Menlo"/>
              </a:rPr>
              <a:t>    },</a:t>
            </a:r>
          </a:p>
          <a:p>
            <a:pPr algn="l">
              <a:lnSpc>
                <a:spcPct val="116000"/>
              </a:lnSpc>
            </a:pPr>
            <a:r>
              <a:rPr sz="1050" dirty="0">
                <a:solidFill>
                  <a:srgbClr val="E6EAF2"/>
                </a:solidFill>
                <a:latin typeface="Menlo"/>
              </a:rPr>
              <a:t>    strategy=</a:t>
            </a:r>
            <a:r>
              <a:rPr sz="1050" dirty="0" err="1">
                <a:solidFill>
                  <a:srgbClr val="E6EAF2"/>
                </a:solidFill>
                <a:latin typeface="Menlo"/>
              </a:rPr>
              <a:t>self._strategy</a:t>
            </a:r>
            <a:r>
              <a:rPr sz="1050" dirty="0">
                <a:solidFill>
                  <a:srgbClr val="E6EAF2"/>
                </a:solidFill>
                <a:latin typeface="Menlo"/>
              </a:rPr>
              <a:t>,</a:t>
            </a:r>
          </a:p>
          <a:p>
            <a:pPr algn="l">
              <a:lnSpc>
                <a:spcPct val="116000"/>
              </a:lnSpc>
            </a:pPr>
            <a:r>
              <a:rPr sz="1050" dirty="0">
                <a:solidFill>
                  <a:srgbClr val="E6EAF2"/>
                </a:solidFill>
                <a:latin typeface="Menlo"/>
              </a:rPr>
              <a:t>    </a:t>
            </a:r>
            <a:r>
              <a:rPr sz="1050" dirty="0" err="1">
                <a:solidFill>
                  <a:srgbClr val="E6EAF2"/>
                </a:solidFill>
                <a:latin typeface="Menlo"/>
              </a:rPr>
              <a:t>return_sampling_results</a:t>
            </a:r>
            <a:r>
              <a:rPr sz="1050" dirty="0">
                <a:solidFill>
                  <a:srgbClr val="E6EAF2"/>
                </a:solidFill>
                <a:latin typeface="Menlo"/>
              </a:rPr>
              <a:t>=</a:t>
            </a:r>
            <a:r>
              <a:rPr sz="1050" dirty="0">
                <a:solidFill>
                  <a:srgbClr val="8BC5FF"/>
                </a:solidFill>
                <a:latin typeface="Menlo"/>
              </a:rPr>
              <a:t>True</a:t>
            </a:r>
            <a:r>
              <a:rPr sz="1050" dirty="0">
                <a:solidFill>
                  <a:srgbClr val="E6EAF2"/>
                </a:solidFill>
                <a:latin typeface="Menlo"/>
              </a:rPr>
              <a:t>,</a:t>
            </a:r>
          </a:p>
          <a:p>
            <a:pPr algn="l">
              <a:lnSpc>
                <a:spcPct val="116000"/>
              </a:lnSpc>
            </a:pPr>
            <a:r>
              <a:rPr sz="1050" dirty="0">
                <a:solidFill>
                  <a:srgbClr val="E6EAF2"/>
                </a:solidFill>
                <a:latin typeface="Menlo"/>
              </a:rPr>
              <a:t>)</a:t>
            </a:r>
          </a:p>
          <a:p>
            <a:pPr algn="l">
              <a:lnSpc>
                <a:spcPct val="116000"/>
              </a:lnSpc>
            </a:pPr>
            <a:r>
              <a:rPr sz="1050" dirty="0">
                <a:solidFill>
                  <a:srgbClr val="8A93A5"/>
                </a:solidFill>
                <a:latin typeface="Menlo"/>
              </a:rPr>
              <a:t># -&gt; {"label": "entailment", "probability": 0.93}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5760720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5B6474"/>
                </a:solidFill>
                <a:latin typeface="Helvetica Neue"/>
              </a:rPr>
              <a:t>The probability comes from the label's token logprobs (--nli-method logprobs) or from SIMBA-UQ self-consistency (simbauq).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6419088"/>
            <a:ext cx="5486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9AA3B0"/>
                </a:solidFill>
                <a:latin typeface="Helvetica Neue"/>
              </a:rPr>
              <a:t>FactReasoner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419088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AA3B0"/>
                </a:solidFill>
                <a:latin typeface="Helvetica Neue"/>
              </a:rPr>
              <a:t>8 / 21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384048"/>
            <a:ext cx="108813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2D6CDF"/>
                </a:solidFill>
                <a:latin typeface="Helvetica Neue"/>
              </a:rPr>
              <a:t>RUNNING AT SCALE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0080"/>
            <a:ext cx="1088136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100" b="1" i="0">
                <a:solidFill>
                  <a:srgbClr val="1A1F2B"/>
                </a:solidFill>
                <a:latin typeface="Helvetica Neue"/>
              </a:rPr>
              <a:t>Every component has an async batch path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88720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0" i="0">
                <a:solidFill>
                  <a:srgbClr val="5B6474"/>
                </a:solidFill>
                <a:latin typeface="Helvetica Neue"/>
              </a:rPr>
              <a:t>run() is one call; run_batch() is the same instruction under bounded concurrency and a rate limit.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847087"/>
            <a:ext cx="5760720" cy="3224223"/>
          </a:xfrm>
          <a:prstGeom prst="roundRect">
            <a:avLst>
              <a:gd name="adj" fmla="val 3000"/>
            </a:avLst>
          </a:prstGeom>
          <a:solidFill>
            <a:srgbClr val="1E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28016" tIns="100584" rIns="128016" bIns="100584" rtlCol="0" anchor="t"/>
          <a:lstStyle/>
          <a:p>
            <a:pPr algn="l">
              <a:lnSpc>
                <a:spcPct val="116000"/>
              </a:lnSpc>
            </a:pPr>
            <a:r>
              <a:rPr sz="1050">
                <a:solidFill>
                  <a:srgbClr val="8A93A5"/>
                </a:solidFill>
                <a:latin typeface="Menlo"/>
              </a:rPr>
              <a:t># Each component exposes a sync single call ...</a:t>
            </a:r>
          </a:p>
          <a:p>
            <a:pPr algn="l">
              <a:lnSpc>
                <a:spcPct val="116000"/>
              </a:lnSpc>
            </a:pPr>
            <a:r>
              <a:rPr sz="1050">
                <a:solidFill>
                  <a:srgbClr val="E6EAF2"/>
                </a:solidFill>
                <a:latin typeface="Menlo"/>
              </a:rPr>
              <a:t>atoms = atomizer.run(response)</a:t>
            </a:r>
          </a:p>
          <a:p>
            <a:pPr algn="l">
              <a:lnSpc>
                <a:spcPct val="116000"/>
              </a:lnSpc>
            </a:pPr>
            <a:r>
              <a:rPr sz="1050">
                <a:solidFill>
                  <a:srgbClr val="E6EAF2"/>
                </a:solidFill>
                <a:latin typeface="Menlo"/>
              </a:rPr>
              <a:t>rel   = nli.run(premise=ctx, hypothesis=atom)</a:t>
            </a:r>
          </a:p>
          <a:p>
            <a:pPr algn="l">
              <a:lnSpc>
                <a:spcPct val="116000"/>
              </a:lnSpc>
            </a:pPr>
            <a:endParaRPr sz="1050">
              <a:solidFill>
                <a:srgbClr val="E6EAF2"/>
              </a:solidFill>
              <a:latin typeface="Menlo"/>
            </a:endParaRPr>
          </a:p>
          <a:p>
            <a:pPr algn="l">
              <a:lnSpc>
                <a:spcPct val="116000"/>
              </a:lnSpc>
            </a:pPr>
            <a:r>
              <a:rPr sz="1050">
                <a:solidFill>
                  <a:srgbClr val="8A93A5"/>
                </a:solidFill>
                <a:latin typeface="Menlo"/>
              </a:rPr>
              <a:t># ... and an async batch, positionally aligned</a:t>
            </a:r>
          </a:p>
          <a:p>
            <a:pPr algn="l">
              <a:lnSpc>
                <a:spcPct val="116000"/>
              </a:lnSpc>
            </a:pPr>
            <a:r>
              <a:rPr sz="1050">
                <a:solidFill>
                  <a:srgbClr val="E6EAF2"/>
                </a:solidFill>
                <a:latin typeface="Menlo"/>
              </a:rPr>
              <a:t>atom_sets = </a:t>
            </a:r>
            <a:r>
              <a:rPr sz="1050">
                <a:solidFill>
                  <a:srgbClr val="8BC5FF"/>
                </a:solidFill>
                <a:latin typeface="Menlo"/>
              </a:rPr>
              <a:t>await</a:t>
            </a:r>
            <a:r>
              <a:rPr sz="1050">
                <a:solidFill>
                  <a:srgbClr val="E6EAF2"/>
                </a:solidFill>
                <a:latin typeface="Menlo"/>
              </a:rPr>
              <a:t> atomizer.run_batch(responses)</a:t>
            </a:r>
          </a:p>
          <a:p>
            <a:pPr algn="l">
              <a:lnSpc>
                <a:spcPct val="116000"/>
              </a:lnSpc>
            </a:pPr>
            <a:r>
              <a:rPr sz="1050">
                <a:solidFill>
                  <a:srgbClr val="E6EAF2"/>
                </a:solidFill>
                <a:latin typeface="Menlo"/>
              </a:rPr>
              <a:t>rels      = </a:t>
            </a:r>
            <a:r>
              <a:rPr sz="1050">
                <a:solidFill>
                  <a:srgbClr val="8BC5FF"/>
                </a:solidFill>
                <a:latin typeface="Menlo"/>
              </a:rPr>
              <a:t>await</a:t>
            </a:r>
            <a:r>
              <a:rPr sz="1050">
                <a:solidFill>
                  <a:srgbClr val="E6EAF2"/>
                </a:solidFill>
                <a:latin typeface="Menlo"/>
              </a:rPr>
              <a:t> nli.run_batch(</a:t>
            </a:r>
          </a:p>
          <a:p>
            <a:pPr algn="l">
              <a:lnSpc>
                <a:spcPct val="116000"/>
              </a:lnSpc>
            </a:pPr>
            <a:r>
              <a:rPr sz="1050">
                <a:solidFill>
                  <a:srgbClr val="E6EAF2"/>
                </a:solidFill>
                <a:latin typeface="Menlo"/>
              </a:rPr>
              <a:t>    premises=premises, hypotheses=hypotheses)</a:t>
            </a:r>
          </a:p>
          <a:p>
            <a:pPr algn="l">
              <a:lnSpc>
                <a:spcPct val="116000"/>
              </a:lnSpc>
            </a:pPr>
            <a:endParaRPr sz="1050">
              <a:solidFill>
                <a:srgbClr val="E6EAF2"/>
              </a:solidFill>
              <a:latin typeface="Menlo"/>
            </a:endParaRPr>
          </a:p>
          <a:p>
            <a:pPr algn="l">
              <a:lnSpc>
                <a:spcPct val="116000"/>
              </a:lnSpc>
            </a:pPr>
            <a:r>
              <a:rPr sz="1050">
                <a:solidFill>
                  <a:srgbClr val="8A93A5"/>
                </a:solidFill>
                <a:latin typeface="Menlo"/>
              </a:rPr>
              <a:t># Internally: one coroutine per item, then throttle</a:t>
            </a:r>
          </a:p>
          <a:p>
            <a:pPr algn="l">
              <a:lnSpc>
                <a:spcPct val="116000"/>
              </a:lnSpc>
            </a:pPr>
            <a:r>
              <a:rPr sz="1050">
                <a:solidFill>
                  <a:srgbClr val="8BC5FF"/>
                </a:solidFill>
                <a:latin typeface="Menlo"/>
              </a:rPr>
              <a:t>def</a:t>
            </a:r>
            <a:r>
              <a:rPr sz="1050">
                <a:solidFill>
                  <a:srgbClr val="E6EAF2"/>
                </a:solidFill>
                <a:latin typeface="Menlo"/>
              </a:rPr>
              <a:t> factory(response: str):</a:t>
            </a:r>
          </a:p>
          <a:p>
            <a:pPr algn="l">
              <a:lnSpc>
                <a:spcPct val="116000"/>
              </a:lnSpc>
            </a:pPr>
            <a:r>
              <a:rPr sz="1050">
                <a:solidFill>
                  <a:srgbClr val="E6EAF2"/>
                </a:solidFill>
                <a:latin typeface="Menlo"/>
              </a:rPr>
              <a:t>    </a:t>
            </a:r>
            <a:r>
              <a:rPr sz="1050">
                <a:solidFill>
                  <a:srgbClr val="8BC5FF"/>
                </a:solidFill>
                <a:latin typeface="Menlo"/>
              </a:rPr>
              <a:t>return</a:t>
            </a:r>
            <a:r>
              <a:rPr sz="1050">
                <a:solidFill>
                  <a:srgbClr val="E6EAF2"/>
                </a:solidFill>
                <a:latin typeface="Menlo"/>
              </a:rPr>
              <a:t> mfuncs.ainstruct(</a:t>
            </a:r>
          </a:p>
          <a:p>
            <a:pPr algn="l">
              <a:lnSpc>
                <a:spcPct val="116000"/>
              </a:lnSpc>
            </a:pPr>
            <a:r>
              <a:rPr sz="1050">
                <a:solidFill>
                  <a:srgbClr val="E6EAF2"/>
                </a:solidFill>
                <a:latin typeface="Menlo"/>
              </a:rPr>
              <a:t>        INSTRUCTION_ATOMIZER, ...,</a:t>
            </a:r>
          </a:p>
          <a:p>
            <a:pPr algn="l">
              <a:lnSpc>
                <a:spcPct val="116000"/>
              </a:lnSpc>
            </a:pPr>
            <a:r>
              <a:rPr sz="1050">
                <a:solidFill>
                  <a:srgbClr val="E6EAF2"/>
                </a:solidFill>
                <a:latin typeface="Menlo"/>
              </a:rPr>
              <a:t>        user_variables={</a:t>
            </a:r>
            <a:r>
              <a:rPr sz="1050">
                <a:solidFill>
                  <a:srgbClr val="A8E0A0"/>
                </a:solidFill>
                <a:latin typeface="Menlo"/>
              </a:rPr>
              <a:t>"response"</a:t>
            </a:r>
            <a:r>
              <a:rPr sz="1050">
                <a:solidFill>
                  <a:srgbClr val="E6EAF2"/>
                </a:solidFill>
                <a:latin typeface="Menlo"/>
              </a:rPr>
              <a:t>: response})</a:t>
            </a:r>
          </a:p>
          <a:p>
            <a:pPr algn="l">
              <a:lnSpc>
                <a:spcPct val="116000"/>
              </a:lnSpc>
            </a:pPr>
            <a:endParaRPr sz="1050">
              <a:solidFill>
                <a:srgbClr val="E6EAF2"/>
              </a:solidFill>
              <a:latin typeface="Menlo"/>
            </a:endParaRPr>
          </a:p>
          <a:p>
            <a:pPr algn="l">
              <a:lnSpc>
                <a:spcPct val="116000"/>
              </a:lnSpc>
            </a:pPr>
            <a:r>
              <a:rPr sz="1050">
                <a:solidFill>
                  <a:srgbClr val="E6EAF2"/>
                </a:solidFill>
                <a:latin typeface="Menlo"/>
              </a:rPr>
              <a:t>outputs = </a:t>
            </a:r>
            <a:r>
              <a:rPr sz="1050">
                <a:solidFill>
                  <a:srgbClr val="8BC5FF"/>
                </a:solidFill>
                <a:latin typeface="Menlo"/>
              </a:rPr>
              <a:t>await</a:t>
            </a:r>
            <a:r>
              <a:rPr sz="1050">
                <a:solidFill>
                  <a:srgbClr val="E6EAF2"/>
                </a:solidFill>
                <a:latin typeface="Menlo"/>
              </a:rPr>
              <a:t> run_throttled(factory, responses)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711696" y="1847088"/>
            <a:ext cx="4828032" cy="2706624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967728" y="2048256"/>
            <a:ext cx="42976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B6474"/>
                </a:solidFill>
                <a:latin typeface="Helvetica Neue"/>
              </a:rPr>
              <a:t>WHAT run_throttled GIVES YOU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67728" y="2414016"/>
            <a:ext cx="42976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A1F2B"/>
                </a:solidFill>
                <a:latin typeface="Helvetica Neue"/>
              </a:rPr>
              <a:t>Bounded concurrency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67728" y="2633472"/>
            <a:ext cx="42976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5B6474"/>
                </a:solidFill>
                <a:latin typeface="Helvetica Neue"/>
              </a:rPr>
              <a:t>at most N requests in flight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67728" y="2907792"/>
            <a:ext cx="42976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A1F2B"/>
                </a:solidFill>
                <a:latin typeface="Helvetica Neue"/>
              </a:rPr>
              <a:t>Per-minute rate limit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67728" y="3127248"/>
            <a:ext cx="42976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5B6474"/>
                </a:solidFill>
                <a:latin typeface="Helvetica Neue"/>
              </a:rPr>
              <a:t>so a hosted endpoint is not tripped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67728" y="3401568"/>
            <a:ext cx="42976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A1F2B"/>
                </a:solidFill>
                <a:latin typeface="Helvetica Neue"/>
              </a:rPr>
              <a:t>Per-item error capture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67728" y="3621024"/>
            <a:ext cx="42976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5B6474"/>
                </a:solidFill>
                <a:latin typeface="Helvetica Neue"/>
              </a:rPr>
              <a:t>one failure does not drop the batch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67728" y="3895344"/>
            <a:ext cx="42976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A1F2B"/>
                </a:solidFill>
                <a:latin typeface="Helvetica Neue"/>
              </a:rPr>
              <a:t>Positional alignment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67728" y="4114800"/>
            <a:ext cx="42976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5B6474"/>
                </a:solidFill>
                <a:latin typeface="Helvetica Neue"/>
              </a:rPr>
              <a:t>results[i] belongs to inputs[i]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5596128"/>
            <a:ext cx="10881360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200" b="0" i="0">
                <a:solidFill>
                  <a:srgbClr val="5B6474"/>
                </a:solidFill>
                <a:latin typeface="Helvetica Neue"/>
              </a:rPr>
              <a:t>A failed item becomes an empty result rather than an exception, so a long run degrades instead of dying.</a:t>
            </a:r>
          </a:p>
          <a:p>
            <a:pPr algn="l">
              <a:lnSpc>
                <a:spcPct val="124000"/>
              </a:lnSpc>
            </a:pPr>
            <a:r>
              <a:rPr sz="1200" b="0" i="0">
                <a:solidFill>
                  <a:srgbClr val="5B6474"/>
                </a:solidFill>
                <a:latin typeface="Helvetica Neue"/>
              </a:rPr>
              <a:t>The NLI stage is where this matters most: it issues by far the most calls, which is what --nli-mode fast exists to cut.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6419088"/>
            <a:ext cx="5486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9AA3B0"/>
                </a:solidFill>
                <a:latin typeface="Helvetica Neue"/>
              </a:rPr>
              <a:t>FactReasoner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6419088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AA3B0"/>
                </a:solidFill>
                <a:latin typeface="Helvetica Neue"/>
              </a:rPr>
              <a:t>9 / 21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05840" y="2487168"/>
            <a:ext cx="9692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D6CDF"/>
                </a:solidFill>
                <a:latin typeface="Helvetica Neue"/>
              </a:rPr>
              <a:t>PART TWO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871216"/>
            <a:ext cx="100584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FFFFFF"/>
                </a:solidFill>
                <a:latin typeface="Helvetica Neue"/>
              </a:rPr>
              <a:t>Backends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822191"/>
            <a:ext cx="95097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700" b="0" i="0">
                <a:solidFill>
                  <a:srgbClr val="A8B2C2"/>
                </a:solidFill>
                <a:latin typeface="Helvetica Neue"/>
              </a:rPr>
              <a:t>One generic interface, four ways to run it — your laptop, your cluster,</a:t>
            </a:r>
          </a:p>
          <a:p>
            <a:pPr algn="l">
              <a:lnSpc>
                <a:spcPct val="126000"/>
              </a:lnSpc>
            </a:pPr>
            <a:r>
              <a:rPr sz="1700" b="0" i="0">
                <a:solidFill>
                  <a:srgbClr val="A8B2C2"/>
                </a:solidFill>
                <a:latin typeface="Helvetica Neue"/>
              </a:rPr>
              <a:t>or a hosted frontier model.</a:t>
            </a:r>
          </a:p>
        </p:txBody>
      </p:sp>
      <p:pic>
        <p:nvPicPr>
          <p:cNvPr id="7" name="Picture 6" descr="melle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8320" y="2340864"/>
            <a:ext cx="1645920" cy="16459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052560" y="4114800"/>
            <a:ext cx="23774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A8B2C2"/>
                </a:solidFill>
                <a:latin typeface="Helvetica Neue"/>
              </a:rPr>
              <a:t>powered by Mellea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419088"/>
            <a:ext cx="5486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9AA3B0"/>
                </a:solidFill>
                <a:latin typeface="Helvetica Neue"/>
              </a:rPr>
              <a:t>FactReasoner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419088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AA3B0"/>
                </a:solidFill>
                <a:latin typeface="Helvetica Neue"/>
              </a:rPr>
              <a:t>10 / 21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384048"/>
            <a:ext cx="108813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2D6CDF"/>
                </a:solidFill>
                <a:latin typeface="Helvetica Neue"/>
              </a:rPr>
              <a:t>MELLEA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0080"/>
            <a:ext cx="1088136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100" b="1" i="0">
                <a:solidFill>
                  <a:srgbClr val="1A1F2B"/>
                </a:solidFill>
                <a:latin typeface="Helvetica Neue"/>
              </a:rPr>
              <a:t>Every component takes a generic backend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88720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0" i="0">
                <a:solidFill>
                  <a:srgbClr val="5B6474"/>
                </a:solidFill>
                <a:latin typeface="Helvetica Neue"/>
              </a:rPr>
              <a:t>FactReasoner never imports a provider SDK. It asks Mellea for a Backend and uses it.</a:t>
            </a:r>
          </a:p>
        </p:txBody>
      </p:sp>
      <p:pic>
        <p:nvPicPr>
          <p:cNvPr id="5" name="Picture 4" descr="melle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9599" y="5084064"/>
            <a:ext cx="1188720" cy="11887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58368" y="1572768"/>
            <a:ext cx="10881360" cy="118872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914400" y="1755648"/>
            <a:ext cx="1627632" cy="36576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6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1050" b="1">
                <a:solidFill>
                  <a:srgbClr val="1A1F2B"/>
                </a:solidFill>
                <a:latin typeface="Helvetica Neue"/>
              </a:rPr>
              <a:t>Atomizer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15184" y="1755648"/>
            <a:ext cx="1627632" cy="36576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6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1050" b="1">
                <a:solidFill>
                  <a:srgbClr val="1A1F2B"/>
                </a:solidFill>
                <a:latin typeface="Helvetica Neue"/>
              </a:rPr>
              <a:t>Reviser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1755648"/>
            <a:ext cx="1627632" cy="36576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6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1050" b="1">
                <a:solidFill>
                  <a:srgbClr val="1A1F2B"/>
                </a:solidFill>
                <a:latin typeface="Helvetica Neue"/>
              </a:rPr>
              <a:t>QueryBuilder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16752" y="1755648"/>
            <a:ext cx="1627632" cy="36576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6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1050" b="1">
                <a:solidFill>
                  <a:srgbClr val="1A1F2B"/>
                </a:solidFill>
                <a:latin typeface="Helvetica Neue"/>
              </a:rPr>
              <a:t>Summarizer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17536" y="1755648"/>
            <a:ext cx="1627632" cy="36576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6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1050" b="1">
                <a:solidFill>
                  <a:srgbClr val="1A1F2B"/>
                </a:solidFill>
                <a:latin typeface="Helvetica Neue"/>
              </a:rPr>
              <a:t>NLIExtractor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418320" y="1755648"/>
            <a:ext cx="1627632" cy="36576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6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1050" b="1">
                <a:solidFill>
                  <a:srgbClr val="1A1F2B"/>
                </a:solidFill>
                <a:latin typeface="Helvetica Neue"/>
              </a:rPr>
              <a:t>RelationMiner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231136"/>
            <a:ext cx="103327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2D6CDF"/>
                </a:solidFill>
                <a:latin typeface="Helvetica Neue"/>
              </a:rPr>
              <a:t>every one of them calls  →  mfuncs.ainstruct(instruction, backend=..., requirements=[...])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487168"/>
            <a:ext cx="103327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5B6474"/>
                </a:solidFill>
                <a:latin typeface="Helvetica Neue"/>
              </a:rPr>
              <a:t>so swapping provider changes one line, and no component knows the difference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3090671"/>
            <a:ext cx="5532120" cy="1752039"/>
          </a:xfrm>
          <a:prstGeom prst="roundRect">
            <a:avLst>
              <a:gd name="adj" fmla="val 3000"/>
            </a:avLst>
          </a:prstGeom>
          <a:solidFill>
            <a:srgbClr val="1E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28016" tIns="100584" rIns="128016" bIns="100584" rtlCol="0" anchor="t"/>
          <a:lstStyle/>
          <a:p>
            <a:pPr algn="l">
              <a:lnSpc>
                <a:spcPct val="116000"/>
              </a:lnSpc>
            </a:pPr>
            <a:r>
              <a:rPr sz="1100" dirty="0">
                <a:solidFill>
                  <a:srgbClr val="8BC5FF"/>
                </a:solidFill>
                <a:latin typeface="Menlo"/>
              </a:rPr>
              <a:t>from</a:t>
            </a:r>
            <a:r>
              <a:rPr sz="1100" dirty="0">
                <a:solidFill>
                  <a:srgbClr val="E6EAF2"/>
                </a:solidFill>
                <a:latin typeface="Menlo"/>
              </a:rPr>
              <a:t> </a:t>
            </a:r>
            <a:r>
              <a:rPr sz="1100" dirty="0" err="1">
                <a:solidFill>
                  <a:srgbClr val="E6EAF2"/>
                </a:solidFill>
                <a:latin typeface="Menlo"/>
              </a:rPr>
              <a:t>fact_reasoner.backends</a:t>
            </a:r>
            <a:r>
              <a:rPr sz="1100" dirty="0">
                <a:solidFill>
                  <a:srgbClr val="E6EAF2"/>
                </a:solidFill>
                <a:latin typeface="Menlo"/>
              </a:rPr>
              <a:t> </a:t>
            </a:r>
            <a:r>
              <a:rPr sz="1100" dirty="0">
                <a:solidFill>
                  <a:srgbClr val="8BC5FF"/>
                </a:solidFill>
                <a:latin typeface="Menlo"/>
              </a:rPr>
              <a:t>import</a:t>
            </a:r>
            <a:r>
              <a:rPr sz="1100" dirty="0">
                <a:solidFill>
                  <a:srgbClr val="E6EAF2"/>
                </a:solidFill>
                <a:latin typeface="Menlo"/>
              </a:rPr>
              <a:t> </a:t>
            </a:r>
            <a:r>
              <a:rPr sz="1100" dirty="0" err="1">
                <a:solidFill>
                  <a:srgbClr val="E6EAF2"/>
                </a:solidFill>
                <a:latin typeface="Menlo"/>
              </a:rPr>
              <a:t>build_backend</a:t>
            </a:r>
            <a:endParaRPr sz="1100" dirty="0">
              <a:solidFill>
                <a:srgbClr val="E6EAF2"/>
              </a:solidFill>
              <a:latin typeface="Menlo"/>
            </a:endParaRPr>
          </a:p>
          <a:p>
            <a:pPr algn="l">
              <a:lnSpc>
                <a:spcPct val="116000"/>
              </a:lnSpc>
            </a:pPr>
            <a:endParaRPr sz="1100" dirty="0">
              <a:solidFill>
                <a:srgbClr val="E6EAF2"/>
              </a:solidFill>
              <a:latin typeface="Menlo"/>
            </a:endParaRPr>
          </a:p>
          <a:p>
            <a:pPr algn="l">
              <a:lnSpc>
                <a:spcPct val="116000"/>
              </a:lnSpc>
            </a:pPr>
            <a:r>
              <a:rPr sz="1100" dirty="0">
                <a:solidFill>
                  <a:srgbClr val="E6EAF2"/>
                </a:solidFill>
                <a:latin typeface="Menlo"/>
              </a:rPr>
              <a:t> the ONLY line that changes between providers</a:t>
            </a:r>
          </a:p>
          <a:p>
            <a:pPr algn="l">
              <a:lnSpc>
                <a:spcPct val="116000"/>
              </a:lnSpc>
            </a:pPr>
            <a:r>
              <a:rPr sz="1100" dirty="0">
                <a:solidFill>
                  <a:srgbClr val="E6EAF2"/>
                </a:solidFill>
                <a:latin typeface="Menlo"/>
              </a:rPr>
              <a:t>backend = </a:t>
            </a:r>
            <a:r>
              <a:rPr sz="1100" dirty="0" err="1">
                <a:solidFill>
                  <a:srgbClr val="E6EAF2"/>
                </a:solidFill>
                <a:latin typeface="Menlo"/>
              </a:rPr>
              <a:t>build_backend</a:t>
            </a:r>
            <a:r>
              <a:rPr sz="1100" dirty="0">
                <a:solidFill>
                  <a:srgbClr val="E6EAF2"/>
                </a:solidFill>
                <a:latin typeface="Menlo"/>
              </a:rPr>
              <a:t>(</a:t>
            </a:r>
            <a:r>
              <a:rPr sz="1100" dirty="0">
                <a:solidFill>
                  <a:srgbClr val="A8E0A0"/>
                </a:solidFill>
                <a:latin typeface="Menlo"/>
              </a:rPr>
              <a:t>"</a:t>
            </a:r>
            <a:r>
              <a:rPr sz="1100" dirty="0" err="1">
                <a:solidFill>
                  <a:srgbClr val="A8E0A0"/>
                </a:solidFill>
                <a:latin typeface="Menlo"/>
              </a:rPr>
              <a:t>rits</a:t>
            </a:r>
            <a:r>
              <a:rPr sz="1100" dirty="0">
                <a:solidFill>
                  <a:srgbClr val="A8E0A0"/>
                </a:solidFill>
                <a:latin typeface="Menlo"/>
              </a:rPr>
              <a:t>"</a:t>
            </a:r>
            <a:r>
              <a:rPr sz="1100" dirty="0">
                <a:solidFill>
                  <a:srgbClr val="E6EAF2"/>
                </a:solidFill>
                <a:latin typeface="Menlo"/>
              </a:rPr>
              <a:t>)</a:t>
            </a:r>
          </a:p>
          <a:p>
            <a:pPr algn="l">
              <a:lnSpc>
                <a:spcPct val="116000"/>
              </a:lnSpc>
            </a:pPr>
            <a:endParaRPr sz="1100" dirty="0">
              <a:solidFill>
                <a:srgbClr val="E6EAF2"/>
              </a:solidFill>
              <a:latin typeface="Menlo"/>
            </a:endParaRPr>
          </a:p>
          <a:p>
            <a:pPr algn="l">
              <a:lnSpc>
                <a:spcPct val="116000"/>
              </a:lnSpc>
            </a:pPr>
            <a:r>
              <a:rPr sz="1100" dirty="0">
                <a:solidFill>
                  <a:srgbClr val="E6EAF2"/>
                </a:solidFill>
                <a:latin typeface="Menlo"/>
              </a:rPr>
              <a:t> every component then takes it unchanged</a:t>
            </a:r>
          </a:p>
          <a:p>
            <a:pPr algn="l">
              <a:lnSpc>
                <a:spcPct val="116000"/>
              </a:lnSpc>
            </a:pPr>
            <a:r>
              <a:rPr sz="1100" dirty="0">
                <a:solidFill>
                  <a:srgbClr val="E6EAF2"/>
                </a:solidFill>
                <a:latin typeface="Menlo"/>
              </a:rPr>
              <a:t>atomizer = Atomizer(backend)</a:t>
            </a:r>
          </a:p>
          <a:p>
            <a:pPr algn="l">
              <a:lnSpc>
                <a:spcPct val="116000"/>
              </a:lnSpc>
            </a:pPr>
            <a:r>
              <a:rPr sz="1100" dirty="0" err="1">
                <a:solidFill>
                  <a:srgbClr val="E6EAF2"/>
                </a:solidFill>
                <a:latin typeface="Menlo"/>
              </a:rPr>
              <a:t>nli</a:t>
            </a:r>
            <a:r>
              <a:rPr sz="1100" dirty="0">
                <a:solidFill>
                  <a:srgbClr val="E6EAF2"/>
                </a:solidFill>
                <a:latin typeface="Menlo"/>
              </a:rPr>
              <a:t>      = </a:t>
            </a:r>
            <a:r>
              <a:rPr sz="1100" dirty="0" err="1">
                <a:solidFill>
                  <a:srgbClr val="E6EAF2"/>
                </a:solidFill>
                <a:latin typeface="Menlo"/>
              </a:rPr>
              <a:t>NLIExtractor</a:t>
            </a:r>
            <a:r>
              <a:rPr sz="1100" dirty="0">
                <a:solidFill>
                  <a:srgbClr val="E6EAF2"/>
                </a:solidFill>
                <a:latin typeface="Menlo"/>
              </a:rPr>
              <a:t>(backend)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3719" y="6382512"/>
            <a:ext cx="38404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5B6474"/>
                </a:solidFill>
                <a:latin typeface="Helvetica Neue"/>
              </a:rPr>
              <a:t>Mellea 0.6.0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92240" y="3090672"/>
            <a:ext cx="5047488" cy="1572768"/>
          </a:xfrm>
          <a:prstGeom prst="roundRect">
            <a:avLst>
              <a:gd name="adj" fmla="val 5000"/>
            </a:avLst>
          </a:prstGeom>
          <a:noFill/>
          <a:ln w="12700">
            <a:solidFill>
              <a:srgbClr val="D6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748272" y="3273552"/>
            <a:ext cx="44805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B6474"/>
                </a:solidFill>
                <a:latin typeface="Helvetica Neue"/>
              </a:rPr>
              <a:t>WHAT MELLEA CONTRIBUTES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48272" y="3584448"/>
            <a:ext cx="4535424" cy="9692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200" b="0" i="0">
                <a:solidFill>
                  <a:srgbClr val="1A1F2B"/>
                </a:solidFill>
                <a:latin typeface="Helvetica Neue"/>
              </a:rPr>
              <a:t>One `Backend` interface over four providers, plus</a:t>
            </a:r>
          </a:p>
          <a:p>
            <a:pPr algn="l">
              <a:lnSpc>
                <a:spcPct val="124000"/>
              </a:lnSpc>
            </a:pPr>
            <a:r>
              <a:rPr sz="1200" b="0" i="0">
                <a:solidFill>
                  <a:srgbClr val="1A1F2B"/>
                </a:solidFill>
                <a:latin typeface="Helvetica Neue"/>
              </a:rPr>
              <a:t>the generate-check-resample loop: requirements</a:t>
            </a:r>
          </a:p>
          <a:p>
            <a:pPr algn="l">
              <a:lnSpc>
                <a:spcPct val="124000"/>
              </a:lnSpc>
            </a:pPr>
            <a:r>
              <a:rPr sz="1200" b="0" i="0">
                <a:solidFill>
                  <a:srgbClr val="1A1F2B"/>
                </a:solidFill>
                <a:latin typeface="Helvetica Neue"/>
              </a:rPr>
              <a:t>are validated and the call is retried until they</a:t>
            </a:r>
          </a:p>
          <a:p>
            <a:pPr algn="l">
              <a:lnSpc>
                <a:spcPct val="124000"/>
              </a:lnSpc>
            </a:pPr>
            <a:r>
              <a:rPr sz="1200" b="0" i="0">
                <a:solidFill>
                  <a:srgbClr val="1A1F2B"/>
                </a:solidFill>
                <a:latin typeface="Helvetica Neue"/>
              </a:rPr>
              <a:t>hold. FactReasoner supplies prompts and validators.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6419088"/>
            <a:ext cx="5486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9AA3B0"/>
                </a:solidFill>
                <a:latin typeface="Helvetica Neue"/>
              </a:rPr>
              <a:t>FactReasoner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40" y="6419088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AA3B0"/>
                </a:solidFill>
                <a:latin typeface="Helvetica Neue"/>
              </a:rPr>
              <a:t>11 / 21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384048"/>
            <a:ext cx="108813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2D6CDF"/>
                </a:solidFill>
                <a:latin typeface="Helvetica Neue"/>
              </a:rPr>
              <a:t>BACKENDS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0080"/>
            <a:ext cx="1088136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100" b="1" i="0">
                <a:solidFill>
                  <a:srgbClr val="1A1F2B"/>
                </a:solidFill>
                <a:latin typeface="Helvetica Neue"/>
              </a:rPr>
              <a:t>Four kinds, one factory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88720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0" i="0">
                <a:solidFill>
                  <a:srgbClr val="5B6474"/>
                </a:solidFill>
                <a:latin typeface="Helvetica Neue"/>
              </a:rPr>
              <a:t>build_backend(kind) — kind is one of "ollama", "vllm", "rits", "openai".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572768"/>
            <a:ext cx="2670048" cy="26151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D6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2670048" cy="384048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04672" y="1655064"/>
            <a:ext cx="239572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Helvetica Neue"/>
              </a:rPr>
              <a:t>LOCAL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139696"/>
            <a:ext cx="239572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1E8E5A"/>
                </a:solidFill>
                <a:latin typeface="Menlo"/>
              </a:rPr>
              <a:t>"ollama"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505456"/>
            <a:ext cx="239572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5B6474"/>
                </a:solidFill>
                <a:latin typeface="Menlo"/>
              </a:rPr>
              <a:t>OllamaModelBackend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852928"/>
            <a:ext cx="2395728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1A1F2B"/>
                </a:solidFill>
                <a:latin typeface="Helvetica Neue"/>
              </a:rPr>
              <a:t>Your laptop. Model pulled on</a:t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1A1F2B"/>
                </a:solidFill>
                <a:latin typeface="Helvetica Neue"/>
              </a:rPr>
              <a:t>first use, nothing leaves the box.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" y="3621024"/>
            <a:ext cx="2377440" cy="310896"/>
          </a:xfrm>
          <a:prstGeom prst="roundRect">
            <a:avLst>
              <a:gd name="adj" fmla="val 16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96112" y="3685032"/>
            <a:ext cx="221284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474"/>
                </a:solidFill>
                <a:latin typeface="Menlo"/>
              </a:rPr>
              <a:t>localhost:11434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47288" y="1572768"/>
            <a:ext cx="2670048" cy="26151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D6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447288" y="1572768"/>
            <a:ext cx="2670048" cy="384048"/>
          </a:xfrm>
          <a:prstGeom prst="rect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593592" y="1655064"/>
            <a:ext cx="239572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Helvetica Neue"/>
              </a:rPr>
              <a:t>SELF-HOSTED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93592" y="2139696"/>
            <a:ext cx="239572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2D6CDF"/>
                </a:solidFill>
                <a:latin typeface="Menlo"/>
              </a:rPr>
              <a:t>"vllm"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93592" y="2505456"/>
            <a:ext cx="239572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5B6474"/>
                </a:solidFill>
                <a:latin typeface="Menlo"/>
              </a:rPr>
              <a:t>OpenAIBackend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93592" y="2852928"/>
            <a:ext cx="2395728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1A1F2B"/>
                </a:solidFill>
                <a:latin typeface="Helvetica Neue"/>
              </a:rPr>
              <a:t>Your GPU / cluster, OpenAI-</a:t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1A1F2B"/>
                </a:solidFill>
                <a:latin typeface="Helvetica Neue"/>
              </a:rPr>
              <a:t>compatible. Best throughput.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593592" y="3621024"/>
            <a:ext cx="2377440" cy="310896"/>
          </a:xfrm>
          <a:prstGeom prst="roundRect">
            <a:avLst>
              <a:gd name="adj" fmla="val 16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685032" y="3685032"/>
            <a:ext cx="221284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474"/>
                </a:solidFill>
                <a:latin typeface="Menlo"/>
              </a:rPr>
              <a:t>VLLM_BASE_URL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36208" y="1572768"/>
            <a:ext cx="2670048" cy="26151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D6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236208" y="1572768"/>
            <a:ext cx="2670048" cy="384048"/>
          </a:xfrm>
          <a:prstGeom prst="rect">
            <a:avLst/>
          </a:prstGeom>
          <a:solidFill>
            <a:srgbClr val="5B4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82512" y="1655064"/>
            <a:ext cx="239572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Helvetica Neue"/>
              </a:rPr>
              <a:t>HOSTED (IBM)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82512" y="2139696"/>
            <a:ext cx="239572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5B4BC4"/>
                </a:solidFill>
                <a:latin typeface="Menlo"/>
              </a:rPr>
              <a:t>"rits"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82512" y="2505456"/>
            <a:ext cx="239572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5B6474"/>
                </a:solidFill>
                <a:latin typeface="Menlo"/>
              </a:rPr>
              <a:t>RITSBackend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82512" y="2852928"/>
            <a:ext cx="2395728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1A1F2B"/>
                </a:solidFill>
                <a:latin typeface="Helvetica Neue"/>
              </a:rPr>
              <a:t>Internal IBM service. Needs</a:t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1A1F2B"/>
                </a:solidFill>
                <a:latin typeface="Helvetica Neue"/>
              </a:rPr>
              <a:t>mellea-ibm + RITS_API_KEY.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82512" y="3621024"/>
            <a:ext cx="2377440" cy="310896"/>
          </a:xfrm>
          <a:prstGeom prst="roundRect">
            <a:avLst>
              <a:gd name="adj" fmla="val 16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473952" y="3685032"/>
            <a:ext cx="221284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474"/>
                </a:solidFill>
                <a:latin typeface="Menlo"/>
              </a:rPr>
              <a:t>RITS_API_KEY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025128" y="1572768"/>
            <a:ext cx="2670048" cy="26151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D6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9025128" y="1572768"/>
            <a:ext cx="2670048" cy="384048"/>
          </a:xfrm>
          <a:prstGeom prst="rect">
            <a:avLst/>
          </a:prstGeom>
          <a:solidFill>
            <a:srgbClr val="8A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171432" y="1655064"/>
            <a:ext cx="239572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Helvetica Neue"/>
              </a:rPr>
              <a:t>HOSTED (FRONTIER)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71432" y="2139696"/>
            <a:ext cx="239572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8A3FA8"/>
                </a:solidFill>
                <a:latin typeface="Menlo"/>
              </a:rPr>
              <a:t>"openai"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71432" y="2505456"/>
            <a:ext cx="239572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5B6474"/>
                </a:solidFill>
                <a:latin typeface="Menlo"/>
              </a:rPr>
              <a:t>OpenAIBackend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71432" y="2852928"/>
            <a:ext cx="2395728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1A1F2B"/>
                </a:solidFill>
                <a:latin typeface="Helvetica Neue"/>
              </a:rPr>
              <a:t>OpenAI, or Claude / LiteLLM</a:t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1A1F2B"/>
                </a:solidFill>
                <a:latin typeface="Helvetica Neue"/>
              </a:rPr>
              <a:t>gateways — base_url picks one.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171432" y="3621024"/>
            <a:ext cx="2377440" cy="310896"/>
          </a:xfrm>
          <a:prstGeom prst="roundRect">
            <a:avLst>
              <a:gd name="adj" fmla="val 16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9262872" y="3685032"/>
            <a:ext cx="221284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474"/>
                </a:solidFill>
                <a:latin typeface="Menlo"/>
              </a:rPr>
              <a:t>OPENAI_API_KEY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8368" y="4956048"/>
            <a:ext cx="10881360" cy="969264"/>
          </a:xfrm>
          <a:prstGeom prst="roundRect">
            <a:avLst>
              <a:gd name="adj" fmla="val 6000"/>
            </a:avLst>
          </a:prstGeom>
          <a:solidFill>
            <a:srgbClr val="FEF6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932688" y="5102352"/>
            <a:ext cx="13716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6A11"/>
                </a:solidFill>
                <a:latin typeface="Helvetica Neue"/>
              </a:rPr>
              <a:t>WATCH OUT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240280" y="5102352"/>
            <a:ext cx="914400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 i="0">
                <a:solidFill>
                  <a:srgbClr val="1A1F2B"/>
                </a:solidFill>
                <a:latin typeface="Helvetica Neue"/>
              </a:rPr>
              <a:t>Ollama and Anthropic's OpenAI-compat endpoint return no logprobs, so --nli-method logprobs silently yields</a:t>
            </a:r>
          </a:p>
          <a:p>
            <a:pPr algn="l">
              <a:lnSpc>
                <a:spcPct val="122000"/>
              </a:lnSpc>
            </a:pPr>
            <a:r>
              <a:rPr sz="1250" b="0" i="0">
                <a:solidFill>
                  <a:srgbClr val="1A1F2B"/>
                </a:solidFill>
                <a:latin typeface="Helvetica Neue"/>
              </a:rPr>
              <a:t>all-neutral relations. FactReasoner prints a warning and you should switch to --nli-method simbauq there.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6419088"/>
            <a:ext cx="5486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9AA3B0"/>
                </a:solidFill>
                <a:latin typeface="Helvetica Neue"/>
              </a:rPr>
              <a:t>FactReasoner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607040" y="6419088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AA3B0"/>
                </a:solidFill>
                <a:latin typeface="Helvetica Neue"/>
              </a:rPr>
              <a:t>12 / 21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384048"/>
            <a:ext cx="108813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2D6CDF"/>
                </a:solidFill>
                <a:latin typeface="Helvetica Neue"/>
              </a:rPr>
              <a:t>BACKENDS IN 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0080"/>
            <a:ext cx="1088136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100" b="1" i="0">
                <a:solidFill>
                  <a:srgbClr val="1A1F2B"/>
                </a:solidFill>
                <a:latin typeface="Helvetica Neue"/>
              </a:rPr>
              <a:t>Same pipeline, four providers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88720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0" i="0">
                <a:solidFill>
                  <a:srgbClr val="5B6474"/>
                </a:solidFill>
                <a:latin typeface="Helvetica Neue"/>
              </a:rPr>
              <a:t>Only the build_backend call differs; everything downstream is identical.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91056"/>
            <a:ext cx="541324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5B6474"/>
                </a:solidFill>
                <a:latin typeface="Helvetica Neue"/>
              </a:rPr>
              <a:t>OLLAMA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847088"/>
            <a:ext cx="5413248" cy="1517904"/>
          </a:xfrm>
          <a:prstGeom prst="roundRect">
            <a:avLst>
              <a:gd name="adj" fmla="val 3000"/>
            </a:avLst>
          </a:prstGeom>
          <a:solidFill>
            <a:srgbClr val="1E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28016" tIns="100584" rIns="128016" bIns="100584" rtlCol="0" anchor="t"/>
          <a:lstStyle/>
          <a:p>
            <a:pPr algn="l">
              <a:lnSpc>
                <a:spcPct val="116000"/>
              </a:lnSpc>
            </a:pPr>
            <a:r>
              <a:rPr sz="1100">
                <a:solidFill>
                  <a:srgbClr val="E6EAF2"/>
                </a:solidFill>
                <a:latin typeface="Menlo"/>
              </a:rPr>
              <a:t> 1. LOCAL — nothing leaves your machine</a:t>
            </a:r>
          </a:p>
          <a:p>
            <a:pPr algn="l">
              <a:lnSpc>
                <a:spcPct val="116000"/>
              </a:lnSpc>
            </a:pPr>
            <a:r>
              <a:rPr sz="1100">
                <a:solidFill>
                  <a:srgbClr val="E6EAF2"/>
                </a:solidFill>
                <a:latin typeface="Menlo"/>
              </a:rPr>
              <a:t>backend = build_backend(</a:t>
            </a:r>
            <a:r>
              <a:rPr sz="1100">
                <a:solidFill>
                  <a:srgbClr val="A8E0A0"/>
                </a:solidFill>
                <a:latin typeface="Menlo"/>
              </a:rPr>
              <a:t>"ollama"</a:t>
            </a:r>
            <a:r>
              <a:rPr sz="1100">
                <a:solidFill>
                  <a:srgbClr val="E6EAF2"/>
                </a:solidFill>
                <a:latin typeface="Menlo"/>
              </a:rPr>
              <a:t>)</a:t>
            </a:r>
          </a:p>
          <a:p>
            <a:pPr algn="l">
              <a:lnSpc>
                <a:spcPct val="116000"/>
              </a:lnSpc>
            </a:pPr>
            <a:endParaRPr sz="1100">
              <a:solidFill>
                <a:srgbClr val="E6EAF2"/>
              </a:solidFill>
              <a:latin typeface="Menlo"/>
            </a:endParaRPr>
          </a:p>
          <a:p>
            <a:pPr algn="l">
              <a:lnSpc>
                <a:spcPct val="116000"/>
              </a:lnSpc>
            </a:pPr>
            <a:r>
              <a:rPr sz="1100">
                <a:solidFill>
                  <a:srgbClr val="E6EAF2"/>
                </a:solidFill>
                <a:latin typeface="Menlo"/>
              </a:rPr>
              <a:t> needs: ollama serve  (model pulled on demand)</a:t>
            </a:r>
          </a:p>
          <a:p>
            <a:pPr algn="l">
              <a:lnSpc>
                <a:spcPct val="116000"/>
              </a:lnSpc>
            </a:pPr>
            <a:r>
              <a:rPr sz="1100">
                <a:solidFill>
                  <a:srgbClr val="E6EAF2"/>
                </a:solidFill>
                <a:latin typeface="Menlo"/>
              </a:rPr>
              <a:t> NLI: use simbauq (no logprobs on Ollama)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7648" y="1591056"/>
            <a:ext cx="52120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5B6474"/>
                </a:solidFill>
                <a:latin typeface="Helvetica Neue"/>
              </a:rPr>
              <a:t>vLLM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27648" y="1847088"/>
            <a:ext cx="5212080" cy="1517904"/>
          </a:xfrm>
          <a:prstGeom prst="roundRect">
            <a:avLst>
              <a:gd name="adj" fmla="val 3000"/>
            </a:avLst>
          </a:prstGeom>
          <a:solidFill>
            <a:srgbClr val="1E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28016" tIns="100584" rIns="128016" bIns="100584" rtlCol="0" anchor="t"/>
          <a:lstStyle/>
          <a:p>
            <a:pPr algn="l">
              <a:lnSpc>
                <a:spcPct val="116000"/>
              </a:lnSpc>
            </a:pPr>
            <a:r>
              <a:rPr sz="1100">
                <a:solidFill>
                  <a:srgbClr val="E6EAF2"/>
                </a:solidFill>
                <a:latin typeface="Menlo"/>
              </a:rPr>
              <a:t> 2. SELF-HOSTED — your own GPUs</a:t>
            </a:r>
          </a:p>
          <a:p>
            <a:pPr algn="l">
              <a:lnSpc>
                <a:spcPct val="116000"/>
              </a:lnSpc>
            </a:pPr>
            <a:r>
              <a:rPr sz="1100">
                <a:solidFill>
                  <a:srgbClr val="E6EAF2"/>
                </a:solidFill>
                <a:latin typeface="Menlo"/>
              </a:rPr>
              <a:t>backend = build_backend(</a:t>
            </a:r>
          </a:p>
          <a:p>
            <a:pPr algn="l">
              <a:lnSpc>
                <a:spcPct val="116000"/>
              </a:lnSpc>
            </a:pPr>
            <a:r>
              <a:rPr sz="1100">
                <a:solidFill>
                  <a:srgbClr val="E6EAF2"/>
                </a:solidFill>
                <a:latin typeface="Menlo"/>
              </a:rPr>
              <a:t>    </a:t>
            </a:r>
            <a:r>
              <a:rPr sz="1100">
                <a:solidFill>
                  <a:srgbClr val="A8E0A0"/>
                </a:solidFill>
                <a:latin typeface="Menlo"/>
              </a:rPr>
              <a:t>"vllm"</a:t>
            </a:r>
            <a:r>
              <a:rPr sz="1100">
                <a:solidFill>
                  <a:srgbClr val="E6EAF2"/>
                </a:solidFill>
                <a:latin typeface="Menlo"/>
              </a:rPr>
              <a:t>,</a:t>
            </a:r>
          </a:p>
          <a:p>
            <a:pPr algn="l">
              <a:lnSpc>
                <a:spcPct val="116000"/>
              </a:lnSpc>
            </a:pPr>
            <a:r>
              <a:rPr sz="1100">
                <a:solidFill>
                  <a:srgbClr val="E6EAF2"/>
                </a:solidFill>
                <a:latin typeface="Menlo"/>
              </a:rPr>
              <a:t>    model_id=</a:t>
            </a:r>
            <a:r>
              <a:rPr sz="1100">
                <a:solidFill>
                  <a:srgbClr val="A8E0A0"/>
                </a:solidFill>
                <a:latin typeface="Menlo"/>
              </a:rPr>
              <a:t>"llama-3.3-70b"</a:t>
            </a:r>
            <a:r>
              <a:rPr sz="1100">
                <a:solidFill>
                  <a:srgbClr val="E6EAF2"/>
                </a:solidFill>
                <a:latin typeface="Menlo"/>
              </a:rPr>
              <a:t>,    = --served-model-name</a:t>
            </a:r>
          </a:p>
          <a:p>
            <a:pPr algn="l">
              <a:lnSpc>
                <a:spcPct val="116000"/>
              </a:lnSpc>
            </a:pPr>
            <a:r>
              <a:rPr sz="1100">
                <a:solidFill>
                  <a:srgbClr val="E6EAF2"/>
                </a:solidFill>
                <a:latin typeface="Menlo"/>
              </a:rPr>
              <a:t>    base_url=</a:t>
            </a:r>
            <a:r>
              <a:rPr sz="1100">
                <a:solidFill>
                  <a:srgbClr val="A8E0A0"/>
                </a:solidFill>
                <a:latin typeface="Menlo"/>
              </a:rPr>
              <a:t>"http://localhost:8000/v1"</a:t>
            </a:r>
            <a:r>
              <a:rPr sz="1100">
                <a:solidFill>
                  <a:srgbClr val="E6EAF2"/>
                </a:solidFill>
                <a:latin typeface="Menlo"/>
              </a:rPr>
              <a:t>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3621024"/>
            <a:ext cx="541324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5B6474"/>
                </a:solidFill>
                <a:latin typeface="Helvetica Neue"/>
              </a:rPr>
              <a:t>RITS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3877056"/>
            <a:ext cx="5413248" cy="1517904"/>
          </a:xfrm>
          <a:prstGeom prst="roundRect">
            <a:avLst>
              <a:gd name="adj" fmla="val 3000"/>
            </a:avLst>
          </a:prstGeom>
          <a:solidFill>
            <a:srgbClr val="1E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28016" tIns="100584" rIns="128016" bIns="100584" rtlCol="0" anchor="t"/>
          <a:lstStyle/>
          <a:p>
            <a:pPr algn="l">
              <a:lnSpc>
                <a:spcPct val="116000"/>
              </a:lnSpc>
            </a:pPr>
            <a:r>
              <a:rPr sz="1100">
                <a:solidFill>
                  <a:srgbClr val="E6EAF2"/>
                </a:solidFill>
                <a:latin typeface="Menlo"/>
              </a:rPr>
              <a:t> 3. HOSTED (IBM) — the paper</a:t>
            </a:r>
            <a:r>
              <a:rPr sz="1100">
                <a:solidFill>
                  <a:srgbClr val="A8E0A0"/>
                </a:solidFill>
                <a:latin typeface="Menlo"/>
              </a:rPr>
              <a:t>'s backend</a:t>
            </a:r>
          </a:p>
          <a:p>
            <a:pPr algn="l">
              <a:lnSpc>
                <a:spcPct val="116000"/>
              </a:lnSpc>
            </a:pPr>
            <a:r>
              <a:rPr sz="1100">
                <a:solidFill>
                  <a:srgbClr val="E6EAF2"/>
                </a:solidFill>
                <a:latin typeface="Menlo"/>
              </a:rPr>
              <a:t>backend = build_backend(</a:t>
            </a:r>
            <a:r>
              <a:rPr sz="1100">
                <a:solidFill>
                  <a:srgbClr val="A8E0A0"/>
                </a:solidFill>
                <a:latin typeface="Menlo"/>
              </a:rPr>
              <a:t>"rits"</a:t>
            </a:r>
            <a:r>
              <a:rPr sz="1100">
                <a:solidFill>
                  <a:srgbClr val="E6EAF2"/>
                </a:solidFill>
                <a:latin typeface="Menlo"/>
              </a:rPr>
              <a:t>, model_id=</a:t>
            </a:r>
            <a:r>
              <a:rPr sz="1100">
                <a:solidFill>
                  <a:srgbClr val="A8E0A0"/>
                </a:solidFill>
                <a:latin typeface="Menlo"/>
              </a:rPr>
              <a:t>"llama3"</a:t>
            </a:r>
            <a:r>
              <a:rPr sz="1100">
                <a:solidFill>
                  <a:srgbClr val="E6EAF2"/>
                </a:solidFill>
                <a:latin typeface="Menlo"/>
              </a:rPr>
              <a:t>)</a:t>
            </a:r>
          </a:p>
          <a:p>
            <a:pPr algn="l">
              <a:lnSpc>
                <a:spcPct val="116000"/>
              </a:lnSpc>
            </a:pPr>
            <a:endParaRPr sz="1100">
              <a:solidFill>
                <a:srgbClr val="E6EAF2"/>
              </a:solidFill>
              <a:latin typeface="Menlo"/>
            </a:endParaRPr>
          </a:p>
          <a:p>
            <a:pPr algn="l">
              <a:lnSpc>
                <a:spcPct val="116000"/>
              </a:lnSpc>
            </a:pPr>
            <a:r>
              <a:rPr sz="1100">
                <a:solidFill>
                  <a:srgbClr val="E6EAF2"/>
                </a:solidFill>
                <a:latin typeface="Menlo"/>
              </a:rPr>
              <a:t> aliases: llama3 | granite4 | granite</a:t>
            </a:r>
          </a:p>
          <a:p>
            <a:pPr algn="l">
              <a:lnSpc>
                <a:spcPct val="116000"/>
              </a:lnSpc>
            </a:pPr>
            <a:r>
              <a:rPr sz="1100">
                <a:solidFill>
                  <a:srgbClr val="E6EAF2"/>
                </a:solidFill>
                <a:latin typeface="Menlo"/>
              </a:rPr>
              <a:t>          mistral | gpt-oss | qwen3 | phi4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3621024"/>
            <a:ext cx="52120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5B6474"/>
                </a:solidFill>
                <a:latin typeface="Helvetica Neue"/>
              </a:rPr>
              <a:t>OPENAI / LITELLM / CLAUDE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27648" y="3877056"/>
            <a:ext cx="5212080" cy="1517904"/>
          </a:xfrm>
          <a:prstGeom prst="roundRect">
            <a:avLst>
              <a:gd name="adj" fmla="val 3000"/>
            </a:avLst>
          </a:prstGeom>
          <a:solidFill>
            <a:srgbClr val="1E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28016" tIns="100584" rIns="128016" bIns="100584" rtlCol="0" anchor="t"/>
          <a:lstStyle/>
          <a:p>
            <a:pPr algn="l">
              <a:lnSpc>
                <a:spcPct val="116000"/>
              </a:lnSpc>
            </a:pPr>
            <a:r>
              <a:rPr sz="1100">
                <a:solidFill>
                  <a:srgbClr val="E6EAF2"/>
                </a:solidFill>
                <a:latin typeface="Menlo"/>
              </a:rPr>
              <a:t> 4. FRONTIER — base_url picks the provider</a:t>
            </a:r>
          </a:p>
          <a:p>
            <a:pPr algn="l">
              <a:lnSpc>
                <a:spcPct val="116000"/>
              </a:lnSpc>
            </a:pPr>
            <a:r>
              <a:rPr sz="1100">
                <a:solidFill>
                  <a:srgbClr val="E6EAF2"/>
                </a:solidFill>
                <a:latin typeface="Menlo"/>
              </a:rPr>
              <a:t>backend = build_backend(</a:t>
            </a:r>
            <a:r>
              <a:rPr sz="1100">
                <a:solidFill>
                  <a:srgbClr val="A8E0A0"/>
                </a:solidFill>
                <a:latin typeface="Menlo"/>
              </a:rPr>
              <a:t>"openai"</a:t>
            </a:r>
            <a:r>
              <a:rPr sz="1100">
                <a:solidFill>
                  <a:srgbClr val="E6EAF2"/>
                </a:solidFill>
                <a:latin typeface="Menlo"/>
              </a:rPr>
              <a:t>, model_id=</a:t>
            </a:r>
            <a:r>
              <a:rPr sz="1100">
                <a:solidFill>
                  <a:srgbClr val="A8E0A0"/>
                </a:solidFill>
                <a:latin typeface="Menlo"/>
              </a:rPr>
              <a:t>"gpt-5.1"</a:t>
            </a:r>
            <a:r>
              <a:rPr sz="1100">
                <a:solidFill>
                  <a:srgbClr val="E6EAF2"/>
                </a:solidFill>
                <a:latin typeface="Menlo"/>
              </a:rPr>
              <a:t>)</a:t>
            </a:r>
          </a:p>
          <a:p>
            <a:pPr algn="l">
              <a:lnSpc>
                <a:spcPct val="116000"/>
              </a:lnSpc>
            </a:pPr>
            <a:endParaRPr sz="1100">
              <a:solidFill>
                <a:srgbClr val="E6EAF2"/>
              </a:solidFill>
              <a:latin typeface="Menlo"/>
            </a:endParaRPr>
          </a:p>
          <a:p>
            <a:pPr algn="l">
              <a:lnSpc>
                <a:spcPct val="116000"/>
              </a:lnSpc>
            </a:pPr>
            <a:r>
              <a:rPr sz="1100">
                <a:solidFill>
                  <a:srgbClr val="E6EAF2"/>
                </a:solidFill>
                <a:latin typeface="Menlo"/>
              </a:rPr>
              <a:t>backend = build_backend(</a:t>
            </a:r>
            <a:r>
              <a:rPr sz="1100">
                <a:solidFill>
                  <a:srgbClr val="A8E0A0"/>
                </a:solidFill>
                <a:latin typeface="Menlo"/>
              </a:rPr>
              <a:t>"openai"</a:t>
            </a:r>
            <a:r>
              <a:rPr sz="1100">
                <a:solidFill>
                  <a:srgbClr val="E6EAF2"/>
                </a:solidFill>
                <a:latin typeface="Menlo"/>
              </a:rPr>
              <a:t>,             Claude</a:t>
            </a:r>
          </a:p>
          <a:p>
            <a:pPr algn="l">
              <a:lnSpc>
                <a:spcPct val="116000"/>
              </a:lnSpc>
            </a:pPr>
            <a:r>
              <a:rPr sz="1100">
                <a:solidFill>
                  <a:srgbClr val="E6EAF2"/>
                </a:solidFill>
                <a:latin typeface="Menlo"/>
              </a:rPr>
              <a:t>    model_id=</a:t>
            </a:r>
            <a:r>
              <a:rPr sz="1100">
                <a:solidFill>
                  <a:srgbClr val="A8E0A0"/>
                </a:solidFill>
                <a:latin typeface="Menlo"/>
              </a:rPr>
              <a:t>"claude-opus-5"</a:t>
            </a:r>
            <a:r>
              <a:rPr sz="1100">
                <a:solidFill>
                  <a:srgbClr val="E6EAF2"/>
                </a:solidFill>
                <a:latin typeface="Menlo"/>
              </a:rPr>
              <a:t>,</a:t>
            </a:r>
          </a:p>
          <a:p>
            <a:pPr algn="l">
              <a:lnSpc>
                <a:spcPct val="116000"/>
              </a:lnSpc>
            </a:pPr>
            <a:r>
              <a:rPr sz="1100">
                <a:solidFill>
                  <a:srgbClr val="E6EAF2"/>
                </a:solidFill>
                <a:latin typeface="Menlo"/>
              </a:rPr>
              <a:t>    base_url=</a:t>
            </a:r>
            <a:r>
              <a:rPr sz="1100">
                <a:solidFill>
                  <a:srgbClr val="A8E0A0"/>
                </a:solidFill>
                <a:latin typeface="Menlo"/>
              </a:rPr>
              <a:t>"https://api.anthropic.com/v1/"</a:t>
            </a:r>
            <a:r>
              <a:rPr sz="1100">
                <a:solidFill>
                  <a:srgbClr val="E6EAF2"/>
                </a:solidFill>
                <a:latin typeface="Menlo"/>
              </a:rPr>
              <a:t>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705856"/>
            <a:ext cx="10881360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250" b="0" i="0">
                <a:solidFill>
                  <a:srgbClr val="5B6474"/>
                </a:solidFill>
                <a:latin typeface="Helvetica Neue"/>
              </a:rPr>
              <a:t>Default model when you pass none:  granite-4-0-micro  —  it resolves across ollama, vllm and rits alike.</a:t>
            </a:r>
          </a:p>
          <a:p>
            <a:pPr algn="l">
              <a:lnSpc>
                <a:spcPct val="124000"/>
              </a:lnSpc>
            </a:pPr>
            <a:r>
              <a:rPr sz="1250" b="0" i="0">
                <a:solidFill>
                  <a:srgbClr val="5B6474"/>
                </a:solidFill>
                <a:latin typeface="Helvetica Neue"/>
              </a:rPr>
              <a:t>A LiteLLM gateway is just an "openai" backend with base_url pointed at the gateway.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419088"/>
            <a:ext cx="5486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9AA3B0"/>
                </a:solidFill>
                <a:latin typeface="Helvetica Neue"/>
              </a:rPr>
              <a:t>FactReasoner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419088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AA3B0"/>
                </a:solidFill>
                <a:latin typeface="Helvetica Neue"/>
              </a:rPr>
              <a:t>13 / 21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8A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05840" y="2487168"/>
            <a:ext cx="9692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8A3FA8"/>
                </a:solidFill>
                <a:latin typeface="Helvetica Neue"/>
              </a:rPr>
              <a:t>PART THREE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871216"/>
            <a:ext cx="100584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FFFFFF"/>
                </a:solidFill>
                <a:latin typeface="Helvetica Neue"/>
              </a:rPr>
              <a:t>Logical coherence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822191"/>
            <a:ext cx="95097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700" b="0" i="0">
                <a:solidFill>
                  <a:srgbClr val="A8B2C2"/>
                </a:solidFill>
                <a:latin typeface="Helvetica Neue"/>
              </a:rPr>
              <a:t>A response can be true claim by claim and still not hang together.</a:t>
            </a:r>
          </a:p>
          <a:p>
            <a:pPr algn="l">
              <a:lnSpc>
                <a:spcPct val="126000"/>
              </a:lnSpc>
            </a:pPr>
            <a:r>
              <a:rPr sz="1700" b="0" i="0">
                <a:solidFill>
                  <a:srgbClr val="A8B2C2"/>
                </a:solidFill>
                <a:latin typeface="Helvetica Neue"/>
              </a:rPr>
              <a:t>Factuality cannot see that. Coherence can.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19088"/>
            <a:ext cx="5486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9AA3B0"/>
                </a:solidFill>
                <a:latin typeface="Helvetica Neue"/>
              </a:rPr>
              <a:t>FactReasoner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19088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AA3B0"/>
                </a:solidFill>
                <a:latin typeface="Helvetica Neue"/>
              </a:rPr>
              <a:t>14 / 21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384048"/>
            <a:ext cx="108813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2D6CDF"/>
                </a:solidFill>
                <a:latin typeface="Helvetica Neue"/>
              </a:rPr>
              <a:t>THE VOYAGER 1 EXAMPLE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0080"/>
            <a:ext cx="1088136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100" b="1" i="0">
                <a:solidFill>
                  <a:srgbClr val="1A1F2B"/>
                </a:solidFill>
                <a:latin typeface="Helvetica Neue"/>
              </a:rPr>
              <a:t>Two answers to one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52144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1">
                <a:solidFill>
                  <a:srgbClr val="5B6474"/>
                </a:solidFill>
                <a:latin typeface="Helvetica Neue"/>
              </a:rPr>
              <a:t>Query:  “Where is Voyager 1 now, and has it left the Solar System?”</a:t>
            </a:r>
          </a:p>
        </p:txBody>
      </p:sp>
      <p:pic>
        <p:nvPicPr>
          <p:cNvPr id="5" name="Picture 4" descr="voy_resp_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810513"/>
            <a:ext cx="5026553" cy="188495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58704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5B6474"/>
                </a:solidFill>
                <a:latin typeface="Helvetica Neue"/>
              </a:rPr>
              <a:t>Five claims a₁…a₅ (bracketed at first mention). The italic spans are the ones that carry relations.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19088"/>
            <a:ext cx="5486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9AA3B0"/>
                </a:solidFill>
                <a:latin typeface="Helvetica Neue"/>
              </a:rPr>
              <a:t>FactReasoner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19088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AA3B0"/>
                </a:solidFill>
                <a:latin typeface="Helvetica Neue"/>
              </a:rPr>
              <a:t>15 / 21</a:t>
            </a:r>
          </a:p>
        </p:txBody>
      </p:sp>
      <p:pic>
        <p:nvPicPr>
          <p:cNvPr id="9" name="Picture 8" descr="voy_resp_b.png">
            <a:extLst>
              <a:ext uri="{FF2B5EF4-FFF2-40B4-BE49-F238E27FC236}">
                <a16:creationId xmlns:a16="http://schemas.microsoft.com/office/drawing/2014/main" id="{3D932E25-78D5-E5D5-AFA5-1CF6D77C0E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0552" y="1810514"/>
            <a:ext cx="5585013" cy="1883182"/>
          </a:xfrm>
          <a:prstGeom prst="rect">
            <a:avLst/>
          </a:prstGeom>
        </p:spPr>
      </p:pic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A6CC34E8-0C1D-17AC-109D-AFDC683BBA8F}"/>
              </a:ext>
            </a:extLst>
          </p:cNvPr>
          <p:cNvSpPr/>
          <p:nvPr/>
        </p:nvSpPr>
        <p:spPr>
          <a:xfrm>
            <a:off x="658368" y="4194206"/>
            <a:ext cx="10881360" cy="1225296"/>
          </a:xfrm>
          <a:prstGeom prst="roundRect">
            <a:avLst>
              <a:gd name="adj" fmla="val 5000"/>
            </a:avLst>
          </a:prstGeom>
          <a:solidFill>
            <a:srgbClr val="F3EE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E584D2B-265A-1B42-A8C2-1B45D9E2FBAE}"/>
              </a:ext>
            </a:extLst>
          </p:cNvPr>
          <p:cNvSpPr txBox="1"/>
          <p:nvPr/>
        </p:nvSpPr>
        <p:spPr>
          <a:xfrm>
            <a:off x="932688" y="4358798"/>
            <a:ext cx="54864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8A3FA8"/>
                </a:solidFill>
                <a:latin typeface="Helvetica Neue"/>
              </a:rPr>
              <a:t>WHY FACTUALITY IS BLIND HERE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7F4B0E6-B6B7-3E77-7040-4EA28D36144F}"/>
              </a:ext>
            </a:extLst>
          </p:cNvPr>
          <p:cNvSpPr txBox="1"/>
          <p:nvPr/>
        </p:nvSpPr>
        <p:spPr>
          <a:xfrm>
            <a:off x="932688" y="4651406"/>
            <a:ext cx="10332720" cy="585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300" b="0" i="0">
                <a:solidFill>
                  <a:srgbClr val="1A1F2B"/>
                </a:solidFill>
                <a:latin typeface="Helvetica Neue"/>
              </a:rPr>
              <a:t>B asserts exactly the same five claims as A, so every per-claim factuality verdict is identical — and so is any</a:t>
            </a:r>
          </a:p>
          <a:p>
            <a:pPr algn="l">
              <a:lnSpc>
                <a:spcPct val="126000"/>
              </a:lnSpc>
            </a:pPr>
            <a:r>
              <a:rPr sz="1300" b="0" i="0">
                <a:solidFill>
                  <a:srgbClr val="1A1F2B"/>
                </a:solidFill>
                <a:latin typeface="Helvetica Neue"/>
              </a:rPr>
              <a:t>average over them. B is still the worse answer: it argues from a claim it denies. That defect is in the relations.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F102DDD-180B-8A0C-444B-F517CCE46BED}"/>
              </a:ext>
            </a:extLst>
          </p:cNvPr>
          <p:cNvSpPr txBox="1"/>
          <p:nvPr/>
        </p:nvSpPr>
        <p:spPr>
          <a:xfrm>
            <a:off x="5933470" y="1566514"/>
            <a:ext cx="559917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1" i="0" dirty="0">
                <a:solidFill>
                  <a:srgbClr val="1A1F2B"/>
                </a:solidFill>
                <a:latin typeface="Helvetica Neue"/>
              </a:rPr>
              <a:t>The same five claims, rearranged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384048"/>
            <a:ext cx="108813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2D6CDF"/>
                </a:solidFill>
                <a:latin typeface="Helvetica Neue"/>
              </a:rPr>
              <a:t>THE VOYAGER 1 EXAMPLE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0080"/>
            <a:ext cx="1088136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100" b="1" i="0">
                <a:solidFill>
                  <a:srgbClr val="1A1F2B"/>
                </a:solidFill>
                <a:latin typeface="Helvetica Neue"/>
              </a:rPr>
              <a:t>The defect is visible in the graph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88720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0" i="0">
                <a:solidFill>
                  <a:srgbClr val="5B6474"/>
                </a:solidFill>
                <a:latin typeface="Helvetica Neue"/>
              </a:rPr>
              <a:t>A's conflicts point outward at the false claims; half of B's point inward, at what it asserts.</a:t>
            </a:r>
          </a:p>
        </p:txBody>
      </p:sp>
      <p:pic>
        <p:nvPicPr>
          <p:cNvPr id="5" name="Picture 4" descr="voy_graph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554480"/>
            <a:ext cx="10881360" cy="294149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58368" y="4773168"/>
            <a:ext cx="5340096" cy="1243584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4937760"/>
            <a:ext cx="4846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D6CDF"/>
                </a:solidFill>
                <a:latin typeface="Helvetica Neue"/>
              </a:rPr>
              <a:t>RESPONSE A  ·  COHERENT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212080"/>
            <a:ext cx="484632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 i="0">
                <a:solidFill>
                  <a:srgbClr val="1A1F2B"/>
                </a:solidFill>
                <a:latin typeface="Helvetica Neue"/>
              </a:rPr>
              <a:t>A support chain over the true claims. Each false</a:t>
            </a:r>
          </a:p>
          <a:p>
            <a:pPr algn="l">
              <a:lnSpc>
                <a:spcPct val="122000"/>
              </a:lnSpc>
            </a:pPr>
            <a:r>
              <a:rPr sz="1250" b="0" i="0">
                <a:solidFill>
                  <a:srgbClr val="1A1F2B"/>
                </a:solidFill>
                <a:latin typeface="Helvetica Neue"/>
              </a:rPr>
              <a:t>claim is attributed, then refused from a₃.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4773168"/>
            <a:ext cx="5340096" cy="1243584"/>
          </a:xfrm>
          <a:prstGeom prst="roundRect">
            <a:avLst>
              <a:gd name="adj" fmla="val 5000"/>
            </a:avLst>
          </a:prstGeom>
          <a:solidFill>
            <a:srgbClr val="FD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55664" y="4937760"/>
            <a:ext cx="4846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0393B"/>
                </a:solidFill>
                <a:latin typeface="Helvetica Neue"/>
              </a:rPr>
              <a:t>RESPONSE B  ·  INCOHERENT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5212080"/>
            <a:ext cx="484632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 i="0">
                <a:solidFill>
                  <a:srgbClr val="1A1F2B"/>
                </a:solidFill>
                <a:latin typeface="Helvetica Neue"/>
              </a:rPr>
              <a:t>The arrow reverses: the false a₄ becomes a</a:t>
            </a:r>
          </a:p>
          <a:p>
            <a:pPr algn="l">
              <a:lnSpc>
                <a:spcPct val="122000"/>
              </a:lnSpc>
            </a:pPr>
            <a:r>
              <a:rPr sz="1250" b="0" i="0">
                <a:solidFill>
                  <a:srgbClr val="1A1F2B"/>
                </a:solidFill>
                <a:latin typeface="Helvetica Neue"/>
              </a:rPr>
              <a:t>premise for the true a₃, which B itself denies.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419088"/>
            <a:ext cx="5486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9AA3B0"/>
                </a:solidFill>
                <a:latin typeface="Helvetica Neue"/>
              </a:rPr>
              <a:t>FactReasoner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19088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AA3B0"/>
                </a:solidFill>
                <a:latin typeface="Helvetica Neue"/>
              </a:rPr>
              <a:t>12 / 15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C8E97C2-1172-ED84-8E70-23BFEE1930AF}"/>
              </a:ext>
            </a:extLst>
          </p:cNvPr>
          <p:cNvSpPr txBox="1"/>
          <p:nvPr/>
        </p:nvSpPr>
        <p:spPr>
          <a:xfrm>
            <a:off x="658368" y="6144530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 dirty="0">
                <a:solidFill>
                  <a:srgbClr val="5B6474"/>
                </a:solidFill>
                <a:latin typeface="Helvetica Neue"/>
              </a:rPr>
              <a:t>Solid blue = support   ·   dashed red = conflict   ·   edge labels = relation probability   ·   π = the claim's own prior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384048"/>
            <a:ext cx="108813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2D6CDF"/>
                </a:solidFill>
                <a:latin typeface="Helvetica Neue"/>
              </a:rPr>
              <a:t>THE VOYAGER 1 EXAMPLE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0080"/>
            <a:ext cx="1088136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100" b="1" i="0">
                <a:solidFill>
                  <a:srgbClr val="1A1F2B"/>
                </a:solidFill>
                <a:latin typeface="Helvetica Neue"/>
              </a:rPr>
              <a:t>Per-claim marginals locate the damage</a:t>
            </a:r>
          </a:p>
        </p:txBody>
      </p:sp>
      <p:pic>
        <p:nvPicPr>
          <p:cNvPr id="4" name="Picture 3" descr="voy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" y="1298448"/>
            <a:ext cx="9692640" cy="2499126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58368" y="3803904"/>
            <a:ext cx="10881360" cy="1005840"/>
          </a:xfrm>
          <a:prstGeom prst="roundRect">
            <a:avLst>
              <a:gd name="adj" fmla="val 6000"/>
            </a:avLst>
          </a:prstGeom>
          <a:solidFill>
            <a:srgbClr val="1A1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3950208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Helvetica Neue"/>
              </a:rPr>
              <a:t>COHERENCE SCORE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4261104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9AA3B0"/>
                </a:solidFill>
                <a:latin typeface="Helvetica Neue"/>
              </a:rPr>
              <a:t>exact, 2⁵ = 32-world enum.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3968496"/>
            <a:ext cx="384048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i="0">
                <a:solidFill>
                  <a:srgbClr val="FFFFFF"/>
                </a:solidFill>
                <a:latin typeface="Helvetica Neue"/>
              </a:rPr>
              <a:t>0.590  →  0.494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56159" y="4434840"/>
            <a:ext cx="4023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dirty="0">
                <a:solidFill>
                  <a:srgbClr val="9AA3B0"/>
                </a:solidFill>
                <a:latin typeface="Helvetica Neue"/>
              </a:rPr>
              <a:t>LCS mean-marginal      (A)             (B)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3968496"/>
            <a:ext cx="18288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i="0">
                <a:solidFill>
                  <a:srgbClr val="FF9F6B"/>
                </a:solidFill>
                <a:latin typeface="Helvetica Neue"/>
              </a:rPr>
              <a:t>Δ = −0.097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46920" y="4005072"/>
            <a:ext cx="17830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 i="0">
                <a:solidFill>
                  <a:srgbClr val="9AA3B0"/>
                </a:solidFill>
                <a:latin typeface="Helvetica Neue"/>
              </a:rPr>
              <a:t>prior-only baseline</a:t>
            </a:r>
          </a:p>
          <a:p>
            <a:pPr algn="l">
              <a:lnSpc>
                <a:spcPct val="114000"/>
              </a:lnSpc>
            </a:pPr>
            <a:r>
              <a:rPr sz="1050" b="0" i="0">
                <a:solidFill>
                  <a:srgbClr val="9AA3B0"/>
                </a:solidFill>
                <a:latin typeface="Helvetica Neue"/>
              </a:rPr>
              <a:t>0.580: A above, B below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4992624"/>
            <a:ext cx="10881360" cy="932688"/>
          </a:xfrm>
          <a:prstGeom prst="roundRect">
            <a:avLst>
              <a:gd name="adj" fmla="val 6000"/>
            </a:avLst>
          </a:prstGeom>
          <a:solidFill>
            <a:srgbClr val="FEF6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32688" y="5138928"/>
            <a:ext cx="1033272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250" b="0" i="0">
                <a:solidFill>
                  <a:srgbClr val="1A1F2B"/>
                </a:solidFill>
                <a:latin typeface="Helvetica Neue"/>
              </a:rPr>
              <a:t>a₃ is true of the world, yet B drags it to a coin flip — 0.992 → 0.513, far below its own 0.9 prior — because its only</a:t>
            </a:r>
          </a:p>
          <a:p>
            <a:pPr algn="l">
              <a:lnSpc>
                <a:spcPct val="124000"/>
              </a:lnSpc>
            </a:pPr>
            <a:r>
              <a:rPr sz="1250" b="0" i="0">
                <a:solidFill>
                  <a:srgbClr val="1A1F2B"/>
                </a:solidFill>
                <a:latin typeface="Helvetica Neue"/>
              </a:rPr>
              <a:t>support now arrives from a₄, a claim the response itself denies. No aggregate score reveals this; a per-claim marginal does.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053328"/>
            <a:ext cx="108813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5B6474"/>
                </a:solidFill>
                <a:latin typeface="Helvetica Neue"/>
              </a:rPr>
              <a:t>The priors are identical in both responses, so the entire drop is produced by the relation factors — by arrangement alone.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6419088"/>
            <a:ext cx="5486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9AA3B0"/>
                </a:solidFill>
                <a:latin typeface="Helvetica Neue"/>
              </a:rPr>
              <a:t>FactReasoner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40" y="6419088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AA3B0"/>
                </a:solidFill>
                <a:latin typeface="Helvetica Neue"/>
              </a:rPr>
              <a:t>19 / 21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384048"/>
            <a:ext cx="108813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2D6CDF"/>
                </a:solidFill>
                <a:latin typeface="Helvetica Neue"/>
              </a:rPr>
              <a:t>COHERENCE IN 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0080"/>
            <a:ext cx="1088136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100" b="1" i="0">
                <a:solidFill>
                  <a:srgbClr val="1A1F2B"/>
                </a:solidFill>
                <a:latin typeface="Helvetica Neue"/>
              </a:rPr>
              <a:t>Mining relations and scoring them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88720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0" i="0">
                <a:solidFill>
                  <a:srgbClr val="5B6474"/>
                </a:solidFill>
                <a:latin typeface="Helvetica Neue"/>
              </a:rPr>
              <a:t>The same Markov-network machinery, now over claim–claim relations instead of claim–evidence ones.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572768"/>
            <a:ext cx="6446520" cy="4096512"/>
          </a:xfrm>
          <a:prstGeom prst="roundRect">
            <a:avLst>
              <a:gd name="adj" fmla="val 3000"/>
            </a:avLst>
          </a:prstGeom>
          <a:solidFill>
            <a:srgbClr val="1E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28016" tIns="100584" rIns="128016" bIns="100584" rtlCol="0" anchor="t"/>
          <a:lstStyle/>
          <a:p>
            <a:pPr algn="l">
              <a:lnSpc>
                <a:spcPct val="116000"/>
              </a:lnSpc>
            </a:pPr>
            <a:r>
              <a:rPr sz="1050" dirty="0">
                <a:solidFill>
                  <a:srgbClr val="8BC5FF"/>
                </a:solidFill>
                <a:latin typeface="Menlo"/>
              </a:rPr>
              <a:t>from</a:t>
            </a:r>
            <a:r>
              <a:rPr sz="1050" dirty="0">
                <a:solidFill>
                  <a:srgbClr val="E6EAF2"/>
                </a:solidFill>
                <a:latin typeface="Menlo"/>
              </a:rPr>
              <a:t> </a:t>
            </a:r>
            <a:r>
              <a:rPr sz="1050" dirty="0" err="1">
                <a:solidFill>
                  <a:srgbClr val="E6EAF2"/>
                </a:solidFill>
                <a:latin typeface="Menlo"/>
              </a:rPr>
              <a:t>fact_reasoner.backends</a:t>
            </a:r>
            <a:r>
              <a:rPr sz="1050" dirty="0">
                <a:solidFill>
                  <a:srgbClr val="E6EAF2"/>
                </a:solidFill>
                <a:latin typeface="Menlo"/>
              </a:rPr>
              <a:t> </a:t>
            </a:r>
            <a:r>
              <a:rPr sz="1050" dirty="0">
                <a:solidFill>
                  <a:srgbClr val="8BC5FF"/>
                </a:solidFill>
                <a:latin typeface="Menlo"/>
              </a:rPr>
              <a:t>import</a:t>
            </a:r>
            <a:r>
              <a:rPr sz="1050" dirty="0">
                <a:solidFill>
                  <a:srgbClr val="E6EAF2"/>
                </a:solidFill>
                <a:latin typeface="Menlo"/>
              </a:rPr>
              <a:t> </a:t>
            </a:r>
            <a:r>
              <a:rPr sz="1050" dirty="0" err="1">
                <a:solidFill>
                  <a:srgbClr val="E6EAF2"/>
                </a:solidFill>
                <a:latin typeface="Menlo"/>
              </a:rPr>
              <a:t>build_backend</a:t>
            </a:r>
            <a:endParaRPr sz="1050" dirty="0">
              <a:solidFill>
                <a:srgbClr val="E6EAF2"/>
              </a:solidFill>
              <a:latin typeface="Menlo"/>
            </a:endParaRPr>
          </a:p>
          <a:p>
            <a:pPr algn="l">
              <a:lnSpc>
                <a:spcPct val="116000"/>
              </a:lnSpc>
            </a:pPr>
            <a:r>
              <a:rPr sz="1050" dirty="0">
                <a:solidFill>
                  <a:srgbClr val="8BC5FF"/>
                </a:solidFill>
                <a:latin typeface="Menlo"/>
              </a:rPr>
              <a:t>from</a:t>
            </a:r>
            <a:r>
              <a:rPr sz="1050" dirty="0">
                <a:solidFill>
                  <a:srgbClr val="E6EAF2"/>
                </a:solidFill>
                <a:latin typeface="Menlo"/>
              </a:rPr>
              <a:t> </a:t>
            </a:r>
            <a:r>
              <a:rPr sz="1050" dirty="0" err="1">
                <a:solidFill>
                  <a:srgbClr val="E6EAF2"/>
                </a:solidFill>
                <a:latin typeface="Menlo"/>
              </a:rPr>
              <a:t>fact_reasoner.core.atomizer</a:t>
            </a:r>
            <a:r>
              <a:rPr sz="1050" dirty="0">
                <a:solidFill>
                  <a:srgbClr val="E6EAF2"/>
                </a:solidFill>
                <a:latin typeface="Menlo"/>
              </a:rPr>
              <a:t> </a:t>
            </a:r>
            <a:r>
              <a:rPr sz="1050" dirty="0">
                <a:solidFill>
                  <a:srgbClr val="8BC5FF"/>
                </a:solidFill>
                <a:latin typeface="Menlo"/>
              </a:rPr>
              <a:t>import</a:t>
            </a:r>
            <a:r>
              <a:rPr sz="1050" dirty="0">
                <a:solidFill>
                  <a:srgbClr val="E6EAF2"/>
                </a:solidFill>
                <a:latin typeface="Menlo"/>
              </a:rPr>
              <a:t> Atomizer</a:t>
            </a:r>
          </a:p>
          <a:p>
            <a:pPr algn="l">
              <a:lnSpc>
                <a:spcPct val="116000"/>
              </a:lnSpc>
            </a:pPr>
            <a:r>
              <a:rPr sz="1050" dirty="0">
                <a:solidFill>
                  <a:srgbClr val="8BC5FF"/>
                </a:solidFill>
                <a:latin typeface="Menlo"/>
              </a:rPr>
              <a:t>from</a:t>
            </a:r>
            <a:r>
              <a:rPr sz="1050" dirty="0">
                <a:solidFill>
                  <a:srgbClr val="E6EAF2"/>
                </a:solidFill>
                <a:latin typeface="Menlo"/>
              </a:rPr>
              <a:t> </a:t>
            </a:r>
            <a:r>
              <a:rPr sz="1050" dirty="0" err="1">
                <a:solidFill>
                  <a:srgbClr val="E6EAF2"/>
                </a:solidFill>
                <a:latin typeface="Menlo"/>
              </a:rPr>
              <a:t>fact_reasoner.lcs</a:t>
            </a:r>
            <a:r>
              <a:rPr sz="1050" dirty="0">
                <a:solidFill>
                  <a:srgbClr val="E6EAF2"/>
                </a:solidFill>
                <a:latin typeface="Menlo"/>
              </a:rPr>
              <a:t> </a:t>
            </a:r>
            <a:r>
              <a:rPr sz="1050" dirty="0">
                <a:solidFill>
                  <a:srgbClr val="8BC5FF"/>
                </a:solidFill>
                <a:latin typeface="Menlo"/>
              </a:rPr>
              <a:t>import</a:t>
            </a:r>
            <a:r>
              <a:rPr sz="1050" dirty="0">
                <a:solidFill>
                  <a:srgbClr val="E6EAF2"/>
                </a:solidFill>
                <a:latin typeface="Menlo"/>
              </a:rPr>
              <a:t> </a:t>
            </a:r>
            <a:r>
              <a:rPr sz="1050" dirty="0" err="1">
                <a:solidFill>
                  <a:srgbClr val="E6EAF2"/>
                </a:solidFill>
                <a:latin typeface="Menlo"/>
              </a:rPr>
              <a:t>CoherencePipeline</a:t>
            </a:r>
            <a:r>
              <a:rPr sz="1050" dirty="0">
                <a:solidFill>
                  <a:srgbClr val="E6EAF2"/>
                </a:solidFill>
                <a:latin typeface="Menlo"/>
              </a:rPr>
              <a:t>, </a:t>
            </a:r>
            <a:r>
              <a:rPr sz="1050" dirty="0" err="1">
                <a:solidFill>
                  <a:srgbClr val="E6EAF2"/>
                </a:solidFill>
                <a:latin typeface="Menlo"/>
              </a:rPr>
              <a:t>RelationMiner</a:t>
            </a:r>
            <a:endParaRPr sz="1050" dirty="0">
              <a:solidFill>
                <a:srgbClr val="E6EAF2"/>
              </a:solidFill>
              <a:latin typeface="Menlo"/>
            </a:endParaRPr>
          </a:p>
          <a:p>
            <a:pPr algn="l">
              <a:lnSpc>
                <a:spcPct val="116000"/>
              </a:lnSpc>
            </a:pPr>
            <a:endParaRPr sz="1050" dirty="0">
              <a:solidFill>
                <a:srgbClr val="E6EAF2"/>
              </a:solidFill>
              <a:latin typeface="Menlo"/>
            </a:endParaRPr>
          </a:p>
          <a:p>
            <a:pPr algn="l">
              <a:lnSpc>
                <a:spcPct val="116000"/>
              </a:lnSpc>
            </a:pPr>
            <a:r>
              <a:rPr sz="1050" dirty="0">
                <a:solidFill>
                  <a:srgbClr val="E6EAF2"/>
                </a:solidFill>
                <a:latin typeface="Menlo"/>
              </a:rPr>
              <a:t>backend = </a:t>
            </a:r>
            <a:r>
              <a:rPr sz="1050" dirty="0" err="1">
                <a:solidFill>
                  <a:srgbClr val="E6EAF2"/>
                </a:solidFill>
                <a:latin typeface="Menlo"/>
              </a:rPr>
              <a:t>build_backend</a:t>
            </a:r>
            <a:r>
              <a:rPr sz="1050" dirty="0">
                <a:solidFill>
                  <a:srgbClr val="E6EAF2"/>
                </a:solidFill>
                <a:latin typeface="Menlo"/>
              </a:rPr>
              <a:t>(</a:t>
            </a:r>
            <a:r>
              <a:rPr sz="1050" dirty="0">
                <a:solidFill>
                  <a:srgbClr val="A8E0A0"/>
                </a:solidFill>
                <a:latin typeface="Menlo"/>
              </a:rPr>
              <a:t>"</a:t>
            </a:r>
            <a:r>
              <a:rPr sz="1050" dirty="0" err="1">
                <a:solidFill>
                  <a:srgbClr val="A8E0A0"/>
                </a:solidFill>
                <a:latin typeface="Menlo"/>
              </a:rPr>
              <a:t>rits</a:t>
            </a:r>
            <a:r>
              <a:rPr sz="1050" dirty="0">
                <a:solidFill>
                  <a:srgbClr val="A8E0A0"/>
                </a:solidFill>
                <a:latin typeface="Menlo"/>
              </a:rPr>
              <a:t>"</a:t>
            </a:r>
            <a:r>
              <a:rPr sz="1050" dirty="0">
                <a:solidFill>
                  <a:srgbClr val="E6EAF2"/>
                </a:solidFill>
                <a:latin typeface="Menlo"/>
              </a:rPr>
              <a:t>, </a:t>
            </a:r>
            <a:r>
              <a:rPr sz="1050" dirty="0" err="1">
                <a:solidFill>
                  <a:srgbClr val="E6EAF2"/>
                </a:solidFill>
                <a:latin typeface="Menlo"/>
              </a:rPr>
              <a:t>model_id</a:t>
            </a:r>
            <a:r>
              <a:rPr sz="1050" dirty="0">
                <a:solidFill>
                  <a:srgbClr val="E6EAF2"/>
                </a:solidFill>
                <a:latin typeface="Menlo"/>
              </a:rPr>
              <a:t>=</a:t>
            </a:r>
            <a:r>
              <a:rPr sz="1050" dirty="0">
                <a:solidFill>
                  <a:srgbClr val="A8E0A0"/>
                </a:solidFill>
                <a:latin typeface="Menlo"/>
              </a:rPr>
              <a:t>"llama3"</a:t>
            </a:r>
            <a:r>
              <a:rPr sz="1050" dirty="0">
                <a:solidFill>
                  <a:srgbClr val="E6EAF2"/>
                </a:solidFill>
                <a:latin typeface="Menlo"/>
              </a:rPr>
              <a:t>)</a:t>
            </a:r>
          </a:p>
          <a:p>
            <a:pPr algn="l">
              <a:lnSpc>
                <a:spcPct val="116000"/>
              </a:lnSpc>
            </a:pPr>
            <a:endParaRPr sz="1050" dirty="0">
              <a:solidFill>
                <a:srgbClr val="E6EAF2"/>
              </a:solidFill>
              <a:latin typeface="Menlo"/>
            </a:endParaRPr>
          </a:p>
          <a:p>
            <a:pPr algn="l">
              <a:lnSpc>
                <a:spcPct val="116000"/>
              </a:lnSpc>
            </a:pPr>
            <a:r>
              <a:rPr sz="1050" dirty="0">
                <a:solidFill>
                  <a:srgbClr val="E6EAF2"/>
                </a:solidFill>
                <a:latin typeface="Menlo"/>
              </a:rPr>
              <a:t>miner = </a:t>
            </a:r>
            <a:r>
              <a:rPr sz="1050" dirty="0" err="1">
                <a:solidFill>
                  <a:srgbClr val="E6EAF2"/>
                </a:solidFill>
                <a:latin typeface="Menlo"/>
              </a:rPr>
              <a:t>RelationMiner</a:t>
            </a:r>
            <a:r>
              <a:rPr sz="1050" dirty="0">
                <a:solidFill>
                  <a:srgbClr val="E6EAF2"/>
                </a:solidFill>
                <a:latin typeface="Menlo"/>
              </a:rPr>
              <a:t>(</a:t>
            </a:r>
          </a:p>
          <a:p>
            <a:pPr algn="l">
              <a:lnSpc>
                <a:spcPct val="116000"/>
              </a:lnSpc>
            </a:pPr>
            <a:r>
              <a:rPr sz="1050" dirty="0">
                <a:solidFill>
                  <a:srgbClr val="E6EAF2"/>
                </a:solidFill>
                <a:latin typeface="Menlo"/>
              </a:rPr>
              <a:t>    backend,</a:t>
            </a:r>
          </a:p>
          <a:p>
            <a:pPr algn="l">
              <a:lnSpc>
                <a:spcPct val="116000"/>
              </a:lnSpc>
            </a:pPr>
            <a:r>
              <a:rPr sz="1050" dirty="0">
                <a:solidFill>
                  <a:srgbClr val="E6EAF2"/>
                </a:solidFill>
                <a:latin typeface="Menlo"/>
              </a:rPr>
              <a:t>    atomizer=Atomizer(backend),</a:t>
            </a:r>
          </a:p>
          <a:p>
            <a:pPr algn="l">
              <a:lnSpc>
                <a:spcPct val="116000"/>
              </a:lnSpc>
            </a:pPr>
            <a:r>
              <a:rPr sz="1050" dirty="0">
                <a:solidFill>
                  <a:srgbClr val="E6EAF2"/>
                </a:solidFill>
                <a:latin typeface="Menlo"/>
              </a:rPr>
              <a:t>    </a:t>
            </a:r>
            <a:r>
              <a:rPr sz="1050" dirty="0" err="1">
                <a:solidFill>
                  <a:srgbClr val="E6EAF2"/>
                </a:solidFill>
                <a:latin typeface="Menlo"/>
              </a:rPr>
              <a:t>pair_policy</a:t>
            </a:r>
            <a:r>
              <a:rPr sz="1050" dirty="0">
                <a:solidFill>
                  <a:srgbClr val="E6EAF2"/>
                </a:solidFill>
                <a:latin typeface="Menlo"/>
              </a:rPr>
              <a:t>=</a:t>
            </a:r>
            <a:r>
              <a:rPr sz="1050" dirty="0">
                <a:solidFill>
                  <a:srgbClr val="A8E0A0"/>
                </a:solidFill>
                <a:latin typeface="Menlo"/>
              </a:rPr>
              <a:t>"windowed"</a:t>
            </a:r>
            <a:r>
              <a:rPr sz="1050" dirty="0">
                <a:solidFill>
                  <a:srgbClr val="E6EAF2"/>
                </a:solidFill>
                <a:latin typeface="Menlo"/>
              </a:rPr>
              <a:t>,      or </a:t>
            </a:r>
            <a:r>
              <a:rPr sz="1050" dirty="0">
                <a:solidFill>
                  <a:srgbClr val="A8E0A0"/>
                </a:solidFill>
                <a:latin typeface="Menlo"/>
              </a:rPr>
              <a:t>"</a:t>
            </a:r>
            <a:r>
              <a:rPr sz="1050" dirty="0" err="1">
                <a:solidFill>
                  <a:srgbClr val="A8E0A0"/>
                </a:solidFill>
                <a:latin typeface="Menlo"/>
              </a:rPr>
              <a:t>all_pairs</a:t>
            </a:r>
            <a:r>
              <a:rPr sz="1050" dirty="0">
                <a:solidFill>
                  <a:srgbClr val="A8E0A0"/>
                </a:solidFill>
                <a:latin typeface="Menlo"/>
              </a:rPr>
              <a:t>"</a:t>
            </a:r>
          </a:p>
          <a:p>
            <a:pPr algn="l">
              <a:lnSpc>
                <a:spcPct val="116000"/>
              </a:lnSpc>
            </a:pPr>
            <a:r>
              <a:rPr sz="1050" dirty="0">
                <a:solidFill>
                  <a:srgbClr val="E6EAF2"/>
                </a:solidFill>
                <a:latin typeface="Menlo"/>
              </a:rPr>
              <a:t>    window=3,</a:t>
            </a:r>
          </a:p>
          <a:p>
            <a:pPr algn="l">
              <a:lnSpc>
                <a:spcPct val="116000"/>
              </a:lnSpc>
            </a:pPr>
            <a:r>
              <a:rPr sz="1050" dirty="0">
                <a:solidFill>
                  <a:srgbClr val="E6EAF2"/>
                </a:solidFill>
                <a:latin typeface="Menlo"/>
              </a:rPr>
              <a:t>)</a:t>
            </a:r>
          </a:p>
          <a:p>
            <a:pPr algn="l">
              <a:lnSpc>
                <a:spcPct val="116000"/>
              </a:lnSpc>
            </a:pPr>
            <a:endParaRPr sz="1050" dirty="0">
              <a:solidFill>
                <a:srgbClr val="E6EAF2"/>
              </a:solidFill>
              <a:latin typeface="Menlo"/>
            </a:endParaRPr>
          </a:p>
          <a:p>
            <a:pPr algn="l">
              <a:lnSpc>
                <a:spcPct val="116000"/>
              </a:lnSpc>
            </a:pPr>
            <a:r>
              <a:rPr sz="1050" dirty="0">
                <a:solidFill>
                  <a:srgbClr val="E6EAF2"/>
                </a:solidFill>
                <a:latin typeface="Menlo"/>
              </a:rPr>
              <a:t>pipeline = </a:t>
            </a:r>
            <a:r>
              <a:rPr sz="1050" dirty="0" err="1">
                <a:solidFill>
                  <a:srgbClr val="E6EAF2"/>
                </a:solidFill>
                <a:latin typeface="Menlo"/>
              </a:rPr>
              <a:t>CoherencePipeline</a:t>
            </a:r>
            <a:r>
              <a:rPr sz="1050" dirty="0">
                <a:solidFill>
                  <a:srgbClr val="E6EAF2"/>
                </a:solidFill>
                <a:latin typeface="Menlo"/>
              </a:rPr>
              <a:t>(</a:t>
            </a:r>
          </a:p>
          <a:p>
            <a:pPr algn="l">
              <a:lnSpc>
                <a:spcPct val="116000"/>
              </a:lnSpc>
            </a:pPr>
            <a:r>
              <a:rPr sz="1050" dirty="0">
                <a:solidFill>
                  <a:srgbClr val="E6EAF2"/>
                </a:solidFill>
                <a:latin typeface="Menlo"/>
              </a:rPr>
              <a:t>    miner=miner,</a:t>
            </a:r>
          </a:p>
          <a:p>
            <a:pPr algn="l">
              <a:lnSpc>
                <a:spcPct val="116000"/>
              </a:lnSpc>
            </a:pPr>
            <a:r>
              <a:rPr sz="1050" dirty="0">
                <a:solidFill>
                  <a:srgbClr val="E6EAF2"/>
                </a:solidFill>
                <a:latin typeface="Menlo"/>
              </a:rPr>
              <a:t>    </a:t>
            </a:r>
            <a:r>
              <a:rPr sz="1050" dirty="0" err="1">
                <a:solidFill>
                  <a:srgbClr val="E6EAF2"/>
                </a:solidFill>
                <a:latin typeface="Menlo"/>
              </a:rPr>
              <a:t>merlin_path</a:t>
            </a:r>
            <a:r>
              <a:rPr sz="1050" dirty="0">
                <a:solidFill>
                  <a:srgbClr val="E6EAF2"/>
                </a:solidFill>
                <a:latin typeface="Menlo"/>
              </a:rPr>
              <a:t>=MERLIN,</a:t>
            </a:r>
          </a:p>
          <a:p>
            <a:pPr algn="l">
              <a:lnSpc>
                <a:spcPct val="116000"/>
              </a:lnSpc>
            </a:pPr>
            <a:r>
              <a:rPr sz="1050" dirty="0">
                <a:solidFill>
                  <a:srgbClr val="E6EAF2"/>
                </a:solidFill>
                <a:latin typeface="Menlo"/>
              </a:rPr>
              <a:t>    methods=(</a:t>
            </a:r>
            <a:r>
              <a:rPr sz="1050" dirty="0">
                <a:solidFill>
                  <a:srgbClr val="A8E0A0"/>
                </a:solidFill>
                <a:latin typeface="Menlo"/>
              </a:rPr>
              <a:t>"</a:t>
            </a:r>
            <a:r>
              <a:rPr sz="1050" dirty="0" err="1">
                <a:solidFill>
                  <a:srgbClr val="A8E0A0"/>
                </a:solidFill>
                <a:latin typeface="Menlo"/>
              </a:rPr>
              <a:t>mean_marginal</a:t>
            </a:r>
            <a:r>
              <a:rPr sz="1050" dirty="0">
                <a:solidFill>
                  <a:srgbClr val="A8E0A0"/>
                </a:solidFill>
                <a:latin typeface="Menlo"/>
              </a:rPr>
              <a:t>"</a:t>
            </a:r>
            <a:r>
              <a:rPr sz="1050" dirty="0">
                <a:solidFill>
                  <a:srgbClr val="E6EAF2"/>
                </a:solidFill>
                <a:latin typeface="Menlo"/>
              </a:rPr>
              <a:t>, </a:t>
            </a:r>
            <a:r>
              <a:rPr sz="1050" dirty="0">
                <a:solidFill>
                  <a:srgbClr val="A8E0A0"/>
                </a:solidFill>
                <a:latin typeface="Menlo"/>
              </a:rPr>
              <a:t>"consistency"</a:t>
            </a:r>
            <a:r>
              <a:rPr sz="1050" dirty="0">
                <a:solidFill>
                  <a:srgbClr val="E6EAF2"/>
                </a:solidFill>
                <a:latin typeface="Menlo"/>
              </a:rPr>
              <a:t>, </a:t>
            </a:r>
            <a:r>
              <a:rPr sz="1050" dirty="0">
                <a:solidFill>
                  <a:srgbClr val="A8E0A0"/>
                </a:solidFill>
                <a:latin typeface="Menlo"/>
              </a:rPr>
              <a:t>"</a:t>
            </a:r>
            <a:r>
              <a:rPr sz="1050" dirty="0" err="1">
                <a:solidFill>
                  <a:srgbClr val="A8E0A0"/>
                </a:solidFill>
                <a:latin typeface="Menlo"/>
              </a:rPr>
              <a:t>log_partition</a:t>
            </a:r>
            <a:r>
              <a:rPr sz="1050" dirty="0">
                <a:solidFill>
                  <a:srgbClr val="A8E0A0"/>
                </a:solidFill>
                <a:latin typeface="Menlo"/>
              </a:rPr>
              <a:t>"</a:t>
            </a:r>
            <a:r>
              <a:rPr sz="1050" dirty="0">
                <a:solidFill>
                  <a:srgbClr val="E6EAF2"/>
                </a:solidFill>
                <a:latin typeface="Menlo"/>
              </a:rPr>
              <a:t>),</a:t>
            </a:r>
          </a:p>
          <a:p>
            <a:pPr algn="l">
              <a:lnSpc>
                <a:spcPct val="116000"/>
              </a:lnSpc>
            </a:pPr>
            <a:r>
              <a:rPr sz="1050" dirty="0">
                <a:solidFill>
                  <a:srgbClr val="E6EAF2"/>
                </a:solidFill>
                <a:latin typeface="Menlo"/>
              </a:rPr>
              <a:t>)</a:t>
            </a:r>
          </a:p>
          <a:p>
            <a:pPr algn="l">
              <a:lnSpc>
                <a:spcPct val="116000"/>
              </a:lnSpc>
            </a:pPr>
            <a:endParaRPr sz="1050" dirty="0">
              <a:solidFill>
                <a:srgbClr val="E6EAF2"/>
              </a:solidFill>
              <a:latin typeface="Menlo"/>
            </a:endParaRPr>
          </a:p>
          <a:p>
            <a:pPr algn="l">
              <a:lnSpc>
                <a:spcPct val="116000"/>
              </a:lnSpc>
            </a:pPr>
            <a:r>
              <a:rPr sz="1050" dirty="0">
                <a:solidFill>
                  <a:srgbClr val="E6EAF2"/>
                </a:solidFill>
                <a:latin typeface="Menlo"/>
              </a:rPr>
              <a:t>result = </a:t>
            </a:r>
            <a:r>
              <a:rPr sz="1050" dirty="0" err="1">
                <a:solidFill>
                  <a:srgbClr val="E6EAF2"/>
                </a:solidFill>
                <a:latin typeface="Menlo"/>
              </a:rPr>
              <a:t>pipeline.run</a:t>
            </a:r>
            <a:r>
              <a:rPr sz="1050" dirty="0">
                <a:solidFill>
                  <a:srgbClr val="E6EAF2"/>
                </a:solidFill>
                <a:latin typeface="Menlo"/>
              </a:rPr>
              <a:t>(RESPONSE, query=QUERY)</a:t>
            </a:r>
          </a:p>
          <a:p>
            <a:pPr algn="l">
              <a:lnSpc>
                <a:spcPct val="116000"/>
              </a:lnSpc>
            </a:pPr>
            <a:r>
              <a:rPr sz="1050" dirty="0" err="1">
                <a:solidFill>
                  <a:srgbClr val="E6EAF2"/>
                </a:solidFill>
                <a:latin typeface="Menlo"/>
              </a:rPr>
              <a:t>result.describe</a:t>
            </a:r>
            <a:r>
              <a:rPr sz="1050" dirty="0">
                <a:solidFill>
                  <a:srgbClr val="E6EAF2"/>
                </a:solidFill>
                <a:latin typeface="Menlo"/>
              </a:rPr>
              <a:t>()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06640" y="1572768"/>
            <a:ext cx="4133087" cy="1426464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662672" y="1737360"/>
            <a:ext cx="36576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B6474"/>
                </a:solidFill>
                <a:latin typeface="Helvetica Neue"/>
              </a:rPr>
              <a:t>FOUR READOUTS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62672" y="2048256"/>
            <a:ext cx="18288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8A3FA8"/>
                </a:solidFill>
                <a:latin typeface="Menlo"/>
              </a:rPr>
              <a:t>mean_marginal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46920" y="2048256"/>
            <a:ext cx="18288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474"/>
                </a:solidFill>
                <a:latin typeface="Helvetica Neue"/>
              </a:rPr>
              <a:t>mean belief over claims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62672" y="2276856"/>
            <a:ext cx="18288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8A3FA8"/>
                </a:solidFill>
                <a:latin typeface="Menlo"/>
              </a:rPr>
              <a:t>consistency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46920" y="2276856"/>
            <a:ext cx="18288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474"/>
                </a:solidFill>
                <a:latin typeface="Helvetica Neue"/>
              </a:rPr>
              <a:t>conflict vs support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62672" y="2505456"/>
            <a:ext cx="18288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8A3FA8"/>
                </a:solidFill>
                <a:latin typeface="Menlo"/>
              </a:rPr>
              <a:t>log_partition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46920" y="2505456"/>
            <a:ext cx="18288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474"/>
                </a:solidFill>
                <a:latin typeface="Helvetica Neue"/>
              </a:rPr>
              <a:t>how much mass survives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62672" y="2734056"/>
            <a:ext cx="18288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8A3FA8"/>
                </a:solidFill>
                <a:latin typeface="Menlo"/>
              </a:rPr>
              <a:t>reified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46920" y="2734056"/>
            <a:ext cx="18288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474"/>
                </a:solidFill>
                <a:latin typeface="Helvetica Neue"/>
              </a:rPr>
              <a:t>one coherence node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3163824"/>
            <a:ext cx="4133087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5B6474"/>
                </a:solidFill>
                <a:latin typeface="Helvetica Neue"/>
              </a:rPr>
              <a:t>TWO-STAGE: FACTUALITY → COHERENCE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06640" y="3419856"/>
            <a:ext cx="4133087" cy="1353312"/>
          </a:xfrm>
          <a:prstGeom prst="roundRect">
            <a:avLst>
              <a:gd name="adj" fmla="val 3000"/>
            </a:avLst>
          </a:prstGeom>
          <a:solidFill>
            <a:srgbClr val="1E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28016" tIns="100584" rIns="128016" bIns="100584" rtlCol="0" anchor="t"/>
          <a:lstStyle/>
          <a:p>
            <a:pPr algn="l">
              <a:lnSpc>
                <a:spcPct val="116000"/>
              </a:lnSpc>
            </a:pPr>
            <a:r>
              <a:rPr sz="1000">
                <a:solidFill>
                  <a:srgbClr val="E6EAF2"/>
                </a:solidFill>
                <a:latin typeface="Menlo"/>
              </a:rPr>
              <a:t> or use factuality </a:t>
            </a:r>
            <a:r>
              <a:rPr sz="1000">
                <a:solidFill>
                  <a:srgbClr val="8BC5FF"/>
                </a:solidFill>
                <a:latin typeface="Menlo"/>
              </a:rPr>
              <a:t>as</a:t>
            </a:r>
            <a:r>
              <a:rPr sz="1000">
                <a:solidFill>
                  <a:srgbClr val="E6EAF2"/>
                </a:solidFill>
                <a:latin typeface="Menlo"/>
              </a:rPr>
              <a:t> priors</a:t>
            </a:r>
          </a:p>
          <a:p>
            <a:pPr algn="l">
              <a:lnSpc>
                <a:spcPct val="116000"/>
              </a:lnSpc>
            </a:pPr>
            <a:r>
              <a:rPr sz="1000">
                <a:solidFill>
                  <a:srgbClr val="8BC5FF"/>
                </a:solidFill>
                <a:latin typeface="Menlo"/>
              </a:rPr>
              <a:t>from</a:t>
            </a:r>
            <a:r>
              <a:rPr sz="1000">
                <a:solidFill>
                  <a:srgbClr val="E6EAF2"/>
                </a:solidFill>
                <a:latin typeface="Menlo"/>
              </a:rPr>
              <a:t> fact_reasoner.lcs </a:t>
            </a:r>
            <a:r>
              <a:rPr sz="1000">
                <a:solidFill>
                  <a:srgbClr val="8BC5FF"/>
                </a:solidFill>
                <a:latin typeface="Menlo"/>
              </a:rPr>
              <a:t>import</a:t>
            </a:r>
            <a:r>
              <a:rPr sz="1000">
                <a:solidFill>
                  <a:srgbClr val="E6EAF2"/>
                </a:solidFill>
                <a:latin typeface="Menlo"/>
              </a:rPr>
              <a:t> \</a:t>
            </a:r>
          </a:p>
          <a:p>
            <a:pPr algn="l">
              <a:lnSpc>
                <a:spcPct val="116000"/>
              </a:lnSpc>
            </a:pPr>
            <a:r>
              <a:rPr sz="1000">
                <a:solidFill>
                  <a:srgbClr val="E6EAF2"/>
                </a:solidFill>
                <a:latin typeface="Menlo"/>
              </a:rPr>
              <a:t>    FactReasonerPriorProvider</a:t>
            </a:r>
          </a:p>
          <a:p>
            <a:pPr algn="l">
              <a:lnSpc>
                <a:spcPct val="116000"/>
              </a:lnSpc>
            </a:pPr>
            <a:endParaRPr sz="1000">
              <a:solidFill>
                <a:srgbClr val="E6EAF2"/>
              </a:solidFill>
              <a:latin typeface="Menlo"/>
            </a:endParaRPr>
          </a:p>
          <a:p>
            <a:pPr algn="l">
              <a:lnSpc>
                <a:spcPct val="116000"/>
              </a:lnSpc>
            </a:pPr>
            <a:r>
              <a:rPr sz="1000">
                <a:solidFill>
                  <a:srgbClr val="E6EAF2"/>
                </a:solidFill>
                <a:latin typeface="Menlo"/>
              </a:rPr>
              <a:t>CoherencePipeline(miner=miner,</a:t>
            </a:r>
          </a:p>
          <a:p>
            <a:pPr algn="l">
              <a:lnSpc>
                <a:spcPct val="116000"/>
              </a:lnSpc>
            </a:pPr>
            <a:r>
              <a:rPr sz="1000">
                <a:solidFill>
                  <a:srgbClr val="E6EAF2"/>
                </a:solidFill>
                <a:latin typeface="Menlo"/>
              </a:rPr>
              <a:t>    prior_provider=FactReasonerPriorProvider(</a:t>
            </a:r>
          </a:p>
          <a:p>
            <a:pPr algn="l">
              <a:lnSpc>
                <a:spcPct val="116000"/>
              </a:lnSpc>
            </a:pPr>
            <a:r>
              <a:rPr sz="1000">
                <a:solidFill>
                  <a:srgbClr val="E6EAF2"/>
                </a:solidFill>
                <a:latin typeface="Menlo"/>
              </a:rPr>
              <a:t>        runner=runner))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5760720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5B6474"/>
                </a:solidFill>
                <a:latin typeface="Menlo"/>
              </a:rPr>
              <a:t>One-liner equivalent:  fact-reasoner-lcs --response "..." --merlin-path /path/to/merlin --methods all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6419088"/>
            <a:ext cx="5486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9AA3B0"/>
                </a:solidFill>
                <a:latin typeface="Helvetica Neue"/>
              </a:rPr>
              <a:t>FactReasoner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6419088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AA3B0"/>
                </a:solidFill>
                <a:latin typeface="Helvetica Neue"/>
              </a:rPr>
              <a:t>20 / 21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384048"/>
            <a:ext cx="108813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2D6CDF"/>
                </a:solidFill>
                <a:latin typeface="Helvetica Neue"/>
              </a:rPr>
              <a:t>RESULTS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0080"/>
            <a:ext cx="1088136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100" b="1" i="0">
                <a:solidFill>
                  <a:srgbClr val="1A1F2B"/>
                </a:solidFill>
                <a:latin typeface="Helvetica Neue"/>
              </a:rPr>
              <a:t>What the two halves buy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88720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0" i="0">
                <a:solidFill>
                  <a:srgbClr val="5B6474"/>
                </a:solidFill>
                <a:latin typeface="Helvetica Neue"/>
              </a:rPr>
              <a:t>Factuality asks whether the claims are true; coherence asks whether the answer hangs together.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572768"/>
            <a:ext cx="5358384" cy="24871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D6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5358384" cy="402336"/>
          </a:xfrm>
          <a:prstGeom prst="rect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1655064"/>
            <a:ext cx="48463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Helvetica Neue"/>
              </a:rPr>
              <a:t>FACTUALITY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76272"/>
            <a:ext cx="45720" cy="475488"/>
          </a:xfrm>
          <a:prstGeom prst="rect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97280" y="2176272"/>
            <a:ext cx="46634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A1F2B"/>
                </a:solidFill>
                <a:latin typeface="Helvetica Neue"/>
              </a:rPr>
              <a:t>Calibrated, not binary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414016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0">
                <a:solidFill>
                  <a:srgbClr val="5B6474"/>
                </a:solidFill>
                <a:latin typeface="Helvetica Neue"/>
              </a:rPr>
              <a:t>conflicting sources give intermediate</a:t>
            </a:r>
          </a:p>
          <a:p>
            <a:pPr algn="l">
              <a:lnSpc>
                <a:spcPct val="114000"/>
              </a:lnSpc>
            </a:pPr>
            <a:r>
              <a:rPr sz="1100" b="0" i="0">
                <a:solidFill>
                  <a:srgbClr val="5B6474"/>
                </a:solidFill>
                <a:latin typeface="Helvetica Neue"/>
              </a:rPr>
              <a:t>probabilities instead of a coin flip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2798064"/>
            <a:ext cx="45720" cy="475488"/>
          </a:xfrm>
          <a:prstGeom prst="rect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97280" y="2798064"/>
            <a:ext cx="46634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A1F2B"/>
                </a:solidFill>
                <a:latin typeface="Helvetica Neue"/>
              </a:rPr>
              <a:t>Joint inference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035808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0">
                <a:solidFill>
                  <a:srgbClr val="5B6474"/>
                </a:solidFill>
                <a:latin typeface="Helvetica Neue"/>
              </a:rPr>
              <a:t>all claims reasoned over together in</a:t>
            </a:r>
          </a:p>
          <a:p>
            <a:pPr algn="l">
              <a:lnSpc>
                <a:spcPct val="114000"/>
              </a:lnSpc>
            </a:pPr>
            <a:r>
              <a:rPr sz="1100" b="0" i="0">
                <a:solidFill>
                  <a:srgbClr val="5B6474"/>
                </a:solidFill>
                <a:latin typeface="Helvetica Neue"/>
              </a:rPr>
              <a:t>one Markov network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3419856"/>
            <a:ext cx="45720" cy="475488"/>
          </a:xfrm>
          <a:prstGeom prst="rect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97280" y="3419856"/>
            <a:ext cx="46634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A1F2B"/>
                </a:solidFill>
                <a:latin typeface="Helvetica Neue"/>
              </a:rPr>
              <a:t>Cost control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657600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0">
                <a:solidFill>
                  <a:srgbClr val="5B6474"/>
                </a:solidFill>
                <a:latin typeface="Helvetica Neue"/>
              </a:rPr>
              <a:t>--nli-mode fast cuts NLI calls 1.2–5x</a:t>
            </a:r>
          </a:p>
          <a:p>
            <a:pPr algn="l">
              <a:lnSpc>
                <a:spcPct val="114000"/>
              </a:lnSpc>
            </a:pPr>
            <a:r>
              <a:rPr sz="1100" b="0" i="0">
                <a:solidFill>
                  <a:srgbClr val="5B6474"/>
                </a:solidFill>
                <a:latin typeface="Helvetica Neue"/>
              </a:rPr>
              <a:t>for the same graph shape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81344" y="1572768"/>
            <a:ext cx="5358384" cy="24871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D6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181344" y="1572768"/>
            <a:ext cx="5358384" cy="402336"/>
          </a:xfrm>
          <a:prstGeom prst="rect">
            <a:avLst/>
          </a:prstGeom>
          <a:solidFill>
            <a:srgbClr val="8A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37376" y="1655064"/>
            <a:ext cx="48463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Helvetica Neue"/>
              </a:rPr>
              <a:t>COHERENCE  ·  LoCoBench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37376" y="2176272"/>
            <a:ext cx="128016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E8E5A"/>
                </a:solidFill>
                <a:latin typeface="Helvetica Neue"/>
              </a:rPr>
              <a:t>82.7%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08975" y="2212848"/>
            <a:ext cx="3566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0">
                <a:solidFill>
                  <a:srgbClr val="5B6474"/>
                </a:solidFill>
                <a:latin typeface="Helvetica Neue"/>
              </a:rPr>
              <a:t>of 202 declared orderings recovered</a:t>
            </a:r>
          </a:p>
          <a:p>
            <a:pPr algn="l">
              <a:lnSpc>
                <a:spcPct val="114000"/>
              </a:lnSpc>
            </a:pPr>
            <a:r>
              <a:rPr sz="1100" b="0" i="0">
                <a:solidFill>
                  <a:srgbClr val="5B6474"/>
                </a:solidFill>
                <a:latin typeface="Helvetica Neue"/>
              </a:rPr>
              <a:t>from gold relation graphs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37376" y="2798064"/>
            <a:ext cx="128016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2D6CDF"/>
                </a:solidFill>
                <a:latin typeface="Helvetica Neue"/>
              </a:rPr>
              <a:t>37/50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08975" y="2834640"/>
            <a:ext cx="3566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0">
                <a:solidFill>
                  <a:srgbClr val="5B6474"/>
                </a:solidFill>
                <a:latin typeface="Helvetica Neue"/>
              </a:rPr>
              <a:t>on the ordering axis, vs the best</a:t>
            </a:r>
          </a:p>
          <a:p>
            <a:pPr algn="l">
              <a:lnSpc>
                <a:spcPct val="114000"/>
              </a:lnSpc>
            </a:pPr>
            <a:r>
              <a:rPr sz="1100" b="0" i="0">
                <a:solidFill>
                  <a:srgbClr val="5B6474"/>
                </a:solidFill>
                <a:latin typeface="Helvetica Neue"/>
              </a:rPr>
              <a:t>baseline's 30/50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37376" y="3419856"/>
            <a:ext cx="128016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8A3FA8"/>
                </a:solidFill>
                <a:latin typeface="Helvetica Neue"/>
              </a:rPr>
              <a:t>20/20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08975" y="3456432"/>
            <a:ext cx="3566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0">
                <a:solidFill>
                  <a:srgbClr val="5B6474"/>
                </a:solidFill>
                <a:latin typeface="Helvetica Neue"/>
              </a:rPr>
              <a:t>exactly invariant when only the</a:t>
            </a:r>
          </a:p>
          <a:p>
            <a:pPr algn="l">
              <a:lnSpc>
                <a:spcPct val="114000"/>
              </a:lnSpc>
            </a:pPr>
            <a:r>
              <a:rPr sz="1100" b="0" i="0">
                <a:solidFill>
                  <a:srgbClr val="5B6474"/>
                </a:solidFill>
                <a:latin typeface="Helvetica Neue"/>
              </a:rPr>
              <a:t>wording changes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4590288"/>
            <a:ext cx="5532120" cy="1188720"/>
          </a:xfrm>
          <a:prstGeom prst="roundRect">
            <a:avLst>
              <a:gd name="adj" fmla="val 3000"/>
            </a:avLst>
          </a:prstGeom>
          <a:solidFill>
            <a:srgbClr val="1E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28016" tIns="100584" rIns="128016" bIns="100584" rtlCol="0" anchor="t"/>
          <a:lstStyle/>
          <a:p>
            <a:pPr algn="l">
              <a:lnSpc>
                <a:spcPct val="116000"/>
              </a:lnSpc>
            </a:pPr>
            <a:r>
              <a:rPr sz="1050">
                <a:solidFill>
                  <a:srgbClr val="E6EAF2"/>
                </a:solidFill>
                <a:latin typeface="Menlo"/>
              </a:rPr>
              <a:t>git clone github.com/IBM/FactReasoner &amp;&amp; uv sync</a:t>
            </a:r>
          </a:p>
          <a:p>
            <a:pPr algn="l">
              <a:lnSpc>
                <a:spcPct val="116000"/>
              </a:lnSpc>
            </a:pPr>
            <a:r>
              <a:rPr sz="1050">
                <a:solidFill>
                  <a:srgbClr val="8A93A5"/>
                </a:solidFill>
                <a:latin typeface="Menlo"/>
              </a:rPr>
              <a:t># plus the Merlin engine: github.com/radum2275/merlin</a:t>
            </a:r>
          </a:p>
          <a:p>
            <a:pPr algn="l">
              <a:lnSpc>
                <a:spcPct val="116000"/>
              </a:lnSpc>
            </a:pPr>
            <a:endParaRPr sz="1050">
              <a:solidFill>
                <a:srgbClr val="8A93A5"/>
              </a:solidFill>
              <a:latin typeface="Menlo"/>
            </a:endParaRPr>
          </a:p>
          <a:p>
            <a:pPr algn="l">
              <a:lnSpc>
                <a:spcPct val="116000"/>
              </a:lnSpc>
            </a:pPr>
            <a:r>
              <a:rPr sz="1050">
                <a:solidFill>
                  <a:srgbClr val="E6EAF2"/>
                </a:solidFill>
                <a:latin typeface="Menlo"/>
              </a:rPr>
              <a:t>fact-reasoner --query </a:t>
            </a:r>
            <a:r>
              <a:rPr sz="1050">
                <a:solidFill>
                  <a:srgbClr val="A8E0A0"/>
                </a:solidFill>
                <a:latin typeface="Menlo"/>
              </a:rPr>
              <a:t>"..."</a:t>
            </a:r>
            <a:r>
              <a:rPr sz="1050">
                <a:solidFill>
                  <a:srgbClr val="E6EAF2"/>
                </a:solidFill>
                <a:latin typeface="Menlo"/>
              </a:rPr>
              <a:t> --response </a:t>
            </a:r>
            <a:r>
              <a:rPr sz="1050">
                <a:solidFill>
                  <a:srgbClr val="A8E0A0"/>
                </a:solidFill>
                <a:latin typeface="Menlo"/>
              </a:rPr>
              <a:t>"..."</a:t>
            </a:r>
            <a:r>
              <a:rPr sz="1050">
                <a:solidFill>
                  <a:srgbClr val="E6EAF2"/>
                </a:solidFill>
                <a:latin typeface="Menlo"/>
              </a:rPr>
              <a:t> \</a:t>
            </a:r>
          </a:p>
          <a:p>
            <a:pPr algn="l">
              <a:lnSpc>
                <a:spcPct val="116000"/>
              </a:lnSpc>
            </a:pPr>
            <a:r>
              <a:rPr sz="1050">
                <a:solidFill>
                  <a:srgbClr val="E6EAF2"/>
                </a:solidFill>
                <a:latin typeface="Menlo"/>
              </a:rPr>
              <a:t>  --merlin-path /path/to/merlin --nli-mode fast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92240" y="4590288"/>
            <a:ext cx="5047488" cy="118872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748272" y="4736592"/>
            <a:ext cx="4480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5B6474"/>
                </a:solidFill>
                <a:latin typeface="Helvetica Neue"/>
              </a:rPr>
              <a:t>WHERE TO LOOK NEXT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48272" y="5010912"/>
            <a:ext cx="21031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2D6CDF"/>
                </a:solidFill>
                <a:latin typeface="Menlo"/>
              </a:rPr>
              <a:t>README.md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52560" y="5010912"/>
            <a:ext cx="23774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474"/>
                </a:solidFill>
                <a:latin typeface="Helvetica Neue"/>
              </a:rPr>
              <a:t>concepts, metrics, every flag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48272" y="5257800"/>
            <a:ext cx="21031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2D6CDF"/>
                </a:solidFill>
                <a:latin typeface="Menlo"/>
              </a:rPr>
              <a:t>docs/examples/core/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52560" y="5257800"/>
            <a:ext cx="23774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474"/>
                </a:solidFill>
                <a:latin typeface="Helvetica Neue"/>
              </a:rPr>
              <a:t>one component at a time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48272" y="5504688"/>
            <a:ext cx="21031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2D6CDF"/>
                </a:solidFill>
                <a:latin typeface="Menlo"/>
              </a:rPr>
              <a:t>docs/examples/lcs/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52560" y="5504688"/>
            <a:ext cx="23774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474"/>
                </a:solidFill>
                <a:latin typeface="Helvetica Neue"/>
              </a:rPr>
              <a:t>coherence, incl. two-stage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980176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5B6474"/>
                </a:solidFill>
                <a:latin typeface="Helvetica Neue"/>
              </a:rPr>
              <a:t>github.com/IBM/FactReasoner   ·   Apache 2.0   ·   Python 3.11+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419088"/>
            <a:ext cx="5486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9AA3B0"/>
                </a:solidFill>
                <a:latin typeface="Helvetica Neue"/>
              </a:rPr>
              <a:t>FactReasoner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07040" y="6419088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AA3B0"/>
                </a:solidFill>
                <a:latin typeface="Helvetica Neue"/>
              </a:rPr>
              <a:t>21 / 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92</TotalTime>
  <Words>3393</Words>
  <Application>Microsoft Macintosh PowerPoint</Application>
  <PresentationFormat>Widescreen</PresentationFormat>
  <Paragraphs>546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4" baseType="lpstr">
      <vt:lpstr>Arial</vt:lpstr>
      <vt:lpstr>Calibri</vt:lpstr>
      <vt:lpstr>Helvetica Neue</vt:lpstr>
      <vt:lpstr>Menlo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RADU MARINESCU</cp:lastModifiedBy>
  <cp:revision>8</cp:revision>
  <dcterms:created xsi:type="dcterms:W3CDTF">2013-01-27T09:14:16Z</dcterms:created>
  <dcterms:modified xsi:type="dcterms:W3CDTF">2026-09-23T10:47:48Z</dcterms:modified>
  <cp:category/>
</cp:coreProperties>
</file>